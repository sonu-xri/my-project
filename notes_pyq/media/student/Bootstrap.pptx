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ableStyles" Target="tableStyle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3/25/2026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3/25/2026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3/25/2026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3/25/2026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3/25/2026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3/25/2026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3/25/2026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3/25/2026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3/25/2026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21" Type="http://schemas.openxmlformats.org/officeDocument/2006/relationships/image" Target="../media/image4.png"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image" Target="../media/image3.png"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2.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 Id="rId22" Type="http://schemas.openxmlformats.org/officeDocument/2006/relationships/image" Target="../media/image5.png"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3/25/2026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6.jpeg" /><Relationship Id="rId2" Type="http://schemas.openxmlformats.org/officeDocument/2006/relationships/hyperlink" Target="https://cdn.jsdelivr.net/npm/bootstrap@5.3.0/dist/css/bootstrap.min.css" TargetMode="Externa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7AB41-155D-DAAF-3DF7-9CD95B7E4CA7}"/>
              </a:ext>
            </a:extLst>
          </p:cNvPr>
          <p:cNvSpPr>
            <a:spLocks noGrp="1"/>
          </p:cNvSpPr>
          <p:nvPr>
            <p:ph type="ctrTitle"/>
          </p:nvPr>
        </p:nvSpPr>
        <p:spPr>
          <a:xfrm>
            <a:off x="598574" y="96762"/>
            <a:ext cx="10807235" cy="4354287"/>
          </a:xfrm>
        </p:spPr>
        <p:txBody>
          <a:bodyPr/>
          <a:lstStyle/>
          <a:p>
            <a:r>
              <a:rPr lang="en-IN" sz="6000" dirty="0"/>
              <a:t>Topic:- Introduction to Bootstrap And Components of Bootstrap</a:t>
            </a:r>
            <a:r>
              <a:rPr lang="en-IN" dirty="0"/>
              <a:t> </a:t>
            </a:r>
            <a:endParaRPr lang="en-US" dirty="0"/>
          </a:p>
        </p:txBody>
      </p:sp>
      <p:sp>
        <p:nvSpPr>
          <p:cNvPr id="3" name="Subtitle 2">
            <a:extLst>
              <a:ext uri="{FF2B5EF4-FFF2-40B4-BE49-F238E27FC236}">
                <a16:creationId xmlns:a16="http://schemas.microsoft.com/office/drawing/2014/main" id="{5FE3A12C-1CFC-4DF8-772C-94CFE918FA28}"/>
              </a:ext>
            </a:extLst>
          </p:cNvPr>
          <p:cNvSpPr>
            <a:spLocks noGrp="1"/>
          </p:cNvSpPr>
          <p:nvPr>
            <p:ph type="subTitle" idx="1"/>
          </p:nvPr>
        </p:nvSpPr>
        <p:spPr>
          <a:xfrm>
            <a:off x="598574" y="5382142"/>
            <a:ext cx="8825658" cy="861420"/>
          </a:xfrm>
        </p:spPr>
        <p:txBody>
          <a:bodyPr/>
          <a:lstStyle/>
          <a:p>
            <a:r>
              <a:rPr lang="en-IN" dirty="0"/>
              <a:t>Submitted by:- </a:t>
            </a:r>
            <a:r>
              <a:rPr lang="en-IN" dirty="0" err="1"/>
              <a:t>Sonu</a:t>
            </a:r>
            <a:r>
              <a:rPr lang="en-IN" dirty="0"/>
              <a:t> Kumar</a:t>
            </a:r>
          </a:p>
          <a:p>
            <a:r>
              <a:rPr lang="en-IN" dirty="0"/>
              <a:t>Roll no:- 2443333</a:t>
            </a:r>
            <a:endParaRPr lang="en-US" dirty="0"/>
          </a:p>
        </p:txBody>
      </p:sp>
    </p:spTree>
    <p:extLst>
      <p:ext uri="{BB962C8B-B14F-4D97-AF65-F5344CB8AC3E}">
        <p14:creationId xmlns:p14="http://schemas.microsoft.com/office/powerpoint/2010/main" val="3942005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6358C-E952-6688-9C2C-790FA8F93438}"/>
              </a:ext>
            </a:extLst>
          </p:cNvPr>
          <p:cNvSpPr>
            <a:spLocks noGrp="1"/>
          </p:cNvSpPr>
          <p:nvPr>
            <p:ph type="title"/>
          </p:nvPr>
        </p:nvSpPr>
        <p:spPr/>
        <p:txBody>
          <a:bodyPr/>
          <a:lstStyle/>
          <a:p>
            <a:r>
              <a:rPr lang="en-IN" dirty="0"/>
              <a:t>What is Bootstrap ?</a:t>
            </a:r>
            <a:endParaRPr lang="en-US" dirty="0"/>
          </a:p>
        </p:txBody>
      </p:sp>
      <p:sp>
        <p:nvSpPr>
          <p:cNvPr id="3" name="Content Placeholder 2">
            <a:extLst>
              <a:ext uri="{FF2B5EF4-FFF2-40B4-BE49-F238E27FC236}">
                <a16:creationId xmlns:a16="http://schemas.microsoft.com/office/drawing/2014/main" id="{D4CCD5FD-4F5E-29B4-AF77-C769EE5D6B70}"/>
              </a:ext>
            </a:extLst>
          </p:cNvPr>
          <p:cNvSpPr>
            <a:spLocks noGrp="1"/>
          </p:cNvSpPr>
          <p:nvPr>
            <p:ph idx="1"/>
          </p:nvPr>
        </p:nvSpPr>
        <p:spPr>
          <a:xfrm>
            <a:off x="733729" y="1715887"/>
            <a:ext cx="8946541" cy="3426225"/>
          </a:xfrm>
        </p:spPr>
        <p:txBody>
          <a:bodyPr/>
          <a:lstStyle/>
          <a:p>
            <a:pPr marL="0" indent="0">
              <a:buNone/>
            </a:pPr>
            <a:r>
              <a:rPr lang="en-IN" dirty="0"/>
              <a:t>Bootstrap is a free front-end framework for faster and easier web development</a:t>
            </a:r>
          </a:p>
          <a:p>
            <a:pPr marL="0" indent="0">
              <a:buNone/>
            </a:pPr>
            <a:r>
              <a:rPr lang="en-IN" dirty="0"/>
              <a:t>
Bootstrap includes HTML and CSS based design templates for typography, forms, buttons, tables, navigation, modals, image and many other, as well as optional JavaScript plugins</a:t>
            </a:r>
          </a:p>
          <a:p>
            <a:pPr marL="0" indent="0">
              <a:buNone/>
            </a:pPr>
            <a:r>
              <a:rPr lang="en-IN" dirty="0"/>
              <a:t>
Bootstrap also gives you the ability to easily create responsive designs</a:t>
            </a:r>
            <a:endParaRPr lang="en-US" dirty="0"/>
          </a:p>
        </p:txBody>
      </p:sp>
    </p:spTree>
    <p:extLst>
      <p:ext uri="{BB962C8B-B14F-4D97-AF65-F5344CB8AC3E}">
        <p14:creationId xmlns:p14="http://schemas.microsoft.com/office/powerpoint/2010/main" val="751479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D3FA5-DAC0-2C6D-BFDD-273EBE797715}"/>
              </a:ext>
            </a:extLst>
          </p:cNvPr>
          <p:cNvSpPr>
            <a:spLocks noGrp="1"/>
          </p:cNvSpPr>
          <p:nvPr>
            <p:ph type="title"/>
          </p:nvPr>
        </p:nvSpPr>
        <p:spPr/>
        <p:txBody>
          <a:bodyPr/>
          <a:lstStyle/>
          <a:p>
            <a:r>
              <a:rPr lang="en-IN" dirty="0"/>
              <a:t>Bootstrap History </a:t>
            </a:r>
            <a:endParaRPr lang="en-US" dirty="0"/>
          </a:p>
        </p:txBody>
      </p:sp>
      <p:sp>
        <p:nvSpPr>
          <p:cNvPr id="3" name="Content Placeholder 2">
            <a:extLst>
              <a:ext uri="{FF2B5EF4-FFF2-40B4-BE49-F238E27FC236}">
                <a16:creationId xmlns:a16="http://schemas.microsoft.com/office/drawing/2014/main" id="{8573CDA4-7C6C-474B-D82C-77FAAFEB1C2F}"/>
              </a:ext>
            </a:extLst>
          </p:cNvPr>
          <p:cNvSpPr>
            <a:spLocks noGrp="1"/>
          </p:cNvSpPr>
          <p:nvPr>
            <p:ph idx="1"/>
          </p:nvPr>
        </p:nvSpPr>
        <p:spPr>
          <a:xfrm>
            <a:off x="875201" y="1690061"/>
            <a:ext cx="8946541" cy="4195481"/>
          </a:xfrm>
        </p:spPr>
        <p:txBody>
          <a:bodyPr>
            <a:normAutofit/>
          </a:bodyPr>
          <a:lstStyle/>
          <a:p>
            <a:pPr marL="0" indent="0">
              <a:buNone/>
            </a:pPr>
            <a:r>
              <a:rPr lang="en-IN" dirty="0"/>
              <a:t>
Bootstrap was developed by Mark Otto and Jacob Thornton at Twitter, and released as an open source product in August 2011 on GitHub.
In June 2014 Bootstrap was the No.1 project on GitHub!</a:t>
            </a:r>
            <a:endParaRPr lang="en-US" dirty="0"/>
          </a:p>
        </p:txBody>
      </p:sp>
    </p:spTree>
    <p:extLst>
      <p:ext uri="{BB962C8B-B14F-4D97-AF65-F5344CB8AC3E}">
        <p14:creationId xmlns:p14="http://schemas.microsoft.com/office/powerpoint/2010/main" val="131593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C9374-F942-1FE0-528A-876C37532333}"/>
              </a:ext>
            </a:extLst>
          </p:cNvPr>
          <p:cNvSpPr>
            <a:spLocks noGrp="1"/>
          </p:cNvSpPr>
          <p:nvPr>
            <p:ph type="title"/>
          </p:nvPr>
        </p:nvSpPr>
        <p:spPr/>
        <p:txBody>
          <a:bodyPr/>
          <a:lstStyle/>
          <a:p>
            <a:r>
              <a:rPr lang="en-IN" dirty="0"/>
              <a:t>Why Use Bootstrap?</a:t>
            </a:r>
            <a:endParaRPr lang="en-US" dirty="0"/>
          </a:p>
        </p:txBody>
      </p:sp>
      <p:sp>
        <p:nvSpPr>
          <p:cNvPr id="3" name="Content Placeholder 2">
            <a:extLst>
              <a:ext uri="{FF2B5EF4-FFF2-40B4-BE49-F238E27FC236}">
                <a16:creationId xmlns:a16="http://schemas.microsoft.com/office/drawing/2014/main" id="{927FCE35-62FE-6F7E-0F1A-145BF1FBA942}"/>
              </a:ext>
            </a:extLst>
          </p:cNvPr>
          <p:cNvSpPr>
            <a:spLocks noGrp="1"/>
          </p:cNvSpPr>
          <p:nvPr>
            <p:ph idx="1"/>
          </p:nvPr>
        </p:nvSpPr>
        <p:spPr/>
        <p:txBody>
          <a:bodyPr/>
          <a:lstStyle/>
          <a:p>
            <a:r>
              <a:rPr lang="en-IN" dirty="0"/>
              <a:t>Easy to use: Anybody with just basic knowledge of HTML and CSS can start using Bootstrap
Responsive features: Bootstrap’s responsive CSS adjusts to phones, tablets, and desktops
Mobile-first approach: In Bootstrap 3, mobile-first styles are part of the core framework
Browser compatibility: Bootstrap is compatible with all modern browsers (Chrome, Firefox, Internet Explorer, Edge, Safari, and Opera)</a:t>
            </a:r>
            <a:endParaRPr lang="en-US" dirty="0"/>
          </a:p>
        </p:txBody>
      </p:sp>
    </p:spTree>
    <p:extLst>
      <p:ext uri="{BB962C8B-B14F-4D97-AF65-F5344CB8AC3E}">
        <p14:creationId xmlns:p14="http://schemas.microsoft.com/office/powerpoint/2010/main" val="3068629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46DB9-5E3E-259C-FEFF-6D1854771C9B}"/>
              </a:ext>
            </a:extLst>
          </p:cNvPr>
          <p:cNvSpPr>
            <a:spLocks noGrp="1"/>
          </p:cNvSpPr>
          <p:nvPr>
            <p:ph type="title"/>
          </p:nvPr>
        </p:nvSpPr>
        <p:spPr/>
        <p:txBody>
          <a:bodyPr/>
          <a:lstStyle/>
          <a:p>
            <a:r>
              <a:rPr lang="en-IN" dirty="0"/>
              <a:t>Example </a:t>
            </a:r>
            <a:endParaRPr lang="en-US" dirty="0"/>
          </a:p>
        </p:txBody>
      </p:sp>
      <p:sp>
        <p:nvSpPr>
          <p:cNvPr id="3" name="Content Placeholder 2">
            <a:extLst>
              <a:ext uri="{FF2B5EF4-FFF2-40B4-BE49-F238E27FC236}">
                <a16:creationId xmlns:a16="http://schemas.microsoft.com/office/drawing/2014/main" id="{94595ED9-84BF-E33C-46F4-B90B7268C69C}"/>
              </a:ext>
            </a:extLst>
          </p:cNvPr>
          <p:cNvSpPr>
            <a:spLocks noGrp="1"/>
          </p:cNvSpPr>
          <p:nvPr>
            <p:ph idx="1"/>
          </p:nvPr>
        </p:nvSpPr>
        <p:spPr>
          <a:xfrm>
            <a:off x="1018645" y="1581203"/>
            <a:ext cx="8946541" cy="4195481"/>
          </a:xfrm>
        </p:spPr>
        <p:txBody>
          <a:bodyPr>
            <a:normAutofit fontScale="55000" lnSpcReduction="20000"/>
          </a:bodyPr>
          <a:lstStyle/>
          <a:p>
            <a:pPr marL="0" indent="0">
              <a:buNone/>
            </a:pPr>
            <a:r>
              <a:rPr lang="en-IN" dirty="0"/>
              <a:t>&lt;!DOCTYPE html&gt;</a:t>
            </a:r>
          </a:p>
          <a:p>
            <a:pPr marL="0" indent="0">
              <a:buNone/>
            </a:pPr>
            <a:r>
              <a:rPr lang="en-IN" dirty="0"/>
              <a:t>&lt;html&gt;</a:t>
            </a:r>
          </a:p>
          <a:p>
            <a:pPr marL="0" indent="0">
              <a:buNone/>
            </a:pPr>
            <a:r>
              <a:rPr lang="en-IN" dirty="0"/>
              <a:t>&lt;head&gt;    </a:t>
            </a:r>
          </a:p>
          <a:p>
            <a:pPr marL="0" indent="0">
              <a:buNone/>
            </a:pPr>
            <a:r>
              <a:rPr lang="en-IN" dirty="0"/>
              <a:t>  &lt;title&gt;Bootstrap Example&lt;/title&gt;    </a:t>
            </a:r>
          </a:p>
          <a:p>
            <a:pPr marL="0" indent="0">
              <a:buNone/>
            </a:pPr>
            <a:r>
              <a:rPr lang="en-IN" dirty="0"/>
              <a:t>  &lt;link </a:t>
            </a:r>
            <a:r>
              <a:rPr lang="en-IN" dirty="0" err="1"/>
              <a:t>rel</a:t>
            </a:r>
            <a:r>
              <a:rPr lang="en-IN" dirty="0"/>
              <a:t>="stylesheet”  </a:t>
            </a:r>
            <a:r>
              <a:rPr lang="en-IN" dirty="0" err="1"/>
              <a:t>href</a:t>
            </a:r>
            <a:r>
              <a:rPr lang="en-IN" dirty="0"/>
              <a:t>=</a:t>
            </a:r>
            <a:r>
              <a:rPr lang="en-IN" dirty="0">
                <a:hlinkClick r:id="rId2"/>
              </a:rPr>
              <a:t>https://cdn.jsdelivr.net/npm/bootstrap@5.3.0/dist/css/bootstrap.min.css</a:t>
            </a:r>
            <a:r>
              <a:rPr lang="en-IN" dirty="0"/>
              <a:t>&gt;</a:t>
            </a:r>
          </a:p>
          <a:p>
            <a:pPr marL="0" indent="0">
              <a:buNone/>
            </a:pPr>
            <a:r>
              <a:rPr lang="en-IN" dirty="0"/>
              <a:t>&lt;/head&gt;</a:t>
            </a:r>
          </a:p>
          <a:p>
            <a:pPr marL="0" indent="0">
              <a:buNone/>
            </a:pPr>
            <a:r>
              <a:rPr lang="en-IN" dirty="0"/>
              <a:t>&lt;body&gt;</a:t>
            </a:r>
          </a:p>
          <a:p>
            <a:pPr marL="0" indent="0">
              <a:buNone/>
            </a:pPr>
            <a:r>
              <a:rPr lang="en-IN" dirty="0"/>
              <a:t>&lt;div class="container"&gt;</a:t>
            </a:r>
          </a:p>
          <a:p>
            <a:pPr marL="0" indent="0">
              <a:buNone/>
            </a:pPr>
            <a:r>
              <a:rPr lang="en-IN" dirty="0"/>
              <a:t>    &lt;h1 class="text-primary"&gt;My First Bootstrap Page&lt;/h1&gt; </a:t>
            </a:r>
          </a:p>
          <a:p>
            <a:pPr marL="0" indent="0">
              <a:buNone/>
            </a:pPr>
            <a:r>
              <a:rPr lang="en-IN" dirty="0"/>
              <a:t>    &lt;p&gt;This is a simple Bootstrap example.&lt;/p&gt;</a:t>
            </a:r>
          </a:p>
          <a:p>
            <a:pPr marL="0" indent="0">
              <a:buNone/>
            </a:pPr>
            <a:r>
              <a:rPr lang="en-IN" dirty="0"/>
              <a:t>&lt;/div&gt;</a:t>
            </a:r>
          </a:p>
          <a:p>
            <a:pPr marL="0" indent="0">
              <a:buNone/>
            </a:pPr>
            <a:r>
              <a:rPr lang="en-IN" dirty="0"/>
              <a:t>&lt;/body&gt;</a:t>
            </a:r>
          </a:p>
          <a:p>
            <a:pPr marL="0" indent="0">
              <a:buNone/>
            </a:pPr>
            <a:r>
              <a:rPr lang="en-IN" dirty="0"/>
              <a:t>&lt;/html&gt;</a:t>
            </a:r>
          </a:p>
          <a:p>
            <a:pPr marL="0" indent="0">
              <a:buNone/>
            </a:pPr>
            <a:endParaRPr lang="en-IN" dirty="0"/>
          </a:p>
          <a:p>
            <a:pPr marL="0" indent="0">
              <a:buNone/>
            </a:pPr>
            <a:r>
              <a:rPr lang="en-IN" dirty="0"/>
              <a:t>Output:-</a:t>
            </a:r>
          </a:p>
          <a:p>
            <a:pPr marL="0" indent="0">
              <a:buNone/>
            </a:pPr>
            <a:endParaRPr lang="en-US" dirty="0"/>
          </a:p>
        </p:txBody>
      </p:sp>
      <p:pic>
        <p:nvPicPr>
          <p:cNvPr id="4" name="Picture 3">
            <a:extLst>
              <a:ext uri="{FF2B5EF4-FFF2-40B4-BE49-F238E27FC236}">
                <a16:creationId xmlns:a16="http://schemas.microsoft.com/office/drawing/2014/main" id="{2B5AD8E2-6CF0-5C80-7DFC-B98AFAD4EED3}"/>
              </a:ext>
            </a:extLst>
          </p:cNvPr>
          <p:cNvPicPr>
            <a:picLocks noChangeAspect="1"/>
          </p:cNvPicPr>
          <p:nvPr/>
        </p:nvPicPr>
        <p:blipFill>
          <a:blip r:embed="rId3"/>
          <a:stretch>
            <a:fillRect/>
          </a:stretch>
        </p:blipFill>
        <p:spPr>
          <a:xfrm>
            <a:off x="1311534" y="5605498"/>
            <a:ext cx="3225298" cy="799784"/>
          </a:xfrm>
          <a:prstGeom prst="rect">
            <a:avLst/>
          </a:prstGeom>
        </p:spPr>
      </p:pic>
    </p:spTree>
    <p:extLst>
      <p:ext uri="{BB962C8B-B14F-4D97-AF65-F5344CB8AC3E}">
        <p14:creationId xmlns:p14="http://schemas.microsoft.com/office/powerpoint/2010/main" val="486632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BB6DB-9F8C-B670-6D6E-808E61ADCDAC}"/>
              </a:ext>
            </a:extLst>
          </p:cNvPr>
          <p:cNvSpPr>
            <a:spLocks noGrp="1"/>
          </p:cNvSpPr>
          <p:nvPr>
            <p:ph type="title"/>
          </p:nvPr>
        </p:nvSpPr>
        <p:spPr/>
        <p:txBody>
          <a:bodyPr/>
          <a:lstStyle/>
          <a:p>
            <a:r>
              <a:rPr lang="en-IN" dirty="0"/>
              <a:t>Components of Bootstrap </a:t>
            </a:r>
            <a:endParaRPr lang="en-US" dirty="0"/>
          </a:p>
        </p:txBody>
      </p:sp>
      <p:sp>
        <p:nvSpPr>
          <p:cNvPr id="3" name="Content Placeholder 2">
            <a:extLst>
              <a:ext uri="{FF2B5EF4-FFF2-40B4-BE49-F238E27FC236}">
                <a16:creationId xmlns:a16="http://schemas.microsoft.com/office/drawing/2014/main" id="{C3A17B8B-C7D0-2B62-4072-B868A54206C6}"/>
              </a:ext>
            </a:extLst>
          </p:cNvPr>
          <p:cNvSpPr>
            <a:spLocks noGrp="1"/>
          </p:cNvSpPr>
          <p:nvPr>
            <p:ph idx="1"/>
          </p:nvPr>
        </p:nvSpPr>
        <p:spPr/>
        <p:txBody>
          <a:bodyPr/>
          <a:lstStyle/>
          <a:p>
            <a:pPr marL="0" indent="0">
              <a:buNone/>
            </a:pPr>
            <a:r>
              <a:rPr lang="en-IN" dirty="0"/>
              <a:t>Bootstrap components are pre-designed user interface elements provided by the Bootstrap framework to help developers quickly build responsive and attractive websites. These components are built using HTML, CSS, and JavaScript and can be easily customized using Bootstrap classes.
Bootstrap components save development time and ensure consistency in web design. They are reusable and mobile-friendly.</a:t>
            </a:r>
            <a:endParaRPr lang="en-US" dirty="0"/>
          </a:p>
        </p:txBody>
      </p:sp>
    </p:spTree>
    <p:extLst>
      <p:ext uri="{BB962C8B-B14F-4D97-AF65-F5344CB8AC3E}">
        <p14:creationId xmlns:p14="http://schemas.microsoft.com/office/powerpoint/2010/main" val="2001651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DA4CC-AEA9-0D99-0DD5-60A1389FA38F}"/>
              </a:ext>
            </a:extLst>
          </p:cNvPr>
          <p:cNvSpPr>
            <a:spLocks noGrp="1"/>
          </p:cNvSpPr>
          <p:nvPr>
            <p:ph type="title"/>
          </p:nvPr>
        </p:nvSpPr>
        <p:spPr>
          <a:xfrm>
            <a:off x="645130" y="452718"/>
            <a:ext cx="9404723" cy="1400530"/>
          </a:xfrm>
        </p:spPr>
        <p:txBody>
          <a:bodyPr/>
          <a:lstStyle/>
          <a:p>
            <a:r>
              <a:rPr lang="en-IN"/>
              <a:t>1. Alerts</a:t>
            </a:r>
            <a:endParaRPr lang="en-US" dirty="0"/>
          </a:p>
        </p:txBody>
      </p:sp>
      <p:sp>
        <p:nvSpPr>
          <p:cNvPr id="3" name="Content Placeholder 2">
            <a:extLst>
              <a:ext uri="{FF2B5EF4-FFF2-40B4-BE49-F238E27FC236}">
                <a16:creationId xmlns:a16="http://schemas.microsoft.com/office/drawing/2014/main" id="{8E2608BF-7AE5-395B-5BAF-E473929A1D9E}"/>
              </a:ext>
            </a:extLst>
          </p:cNvPr>
          <p:cNvSpPr>
            <a:spLocks noGrp="1"/>
          </p:cNvSpPr>
          <p:nvPr>
            <p:ph idx="1"/>
          </p:nvPr>
        </p:nvSpPr>
        <p:spPr>
          <a:xfrm>
            <a:off x="1103312" y="2052918"/>
            <a:ext cx="8946541" cy="1551305"/>
          </a:xfrm>
        </p:spPr>
        <p:txBody>
          <a:bodyPr/>
          <a:lstStyle/>
          <a:p>
            <a:r>
              <a:rPr lang="en-IN" dirty="0"/>
              <a:t>Alerts are Bootstrap components used to display important messages to users such as success messages, error messages, warnings, and informational messages. Alerts are commonly used in forms, login pages, and notifications</a:t>
            </a:r>
            <a:endParaRPr lang="en-US" dirty="0"/>
          </a:p>
        </p:txBody>
      </p:sp>
      <p:sp>
        <p:nvSpPr>
          <p:cNvPr id="7" name="Title 1">
            <a:extLst>
              <a:ext uri="{FF2B5EF4-FFF2-40B4-BE49-F238E27FC236}">
                <a16:creationId xmlns:a16="http://schemas.microsoft.com/office/drawing/2014/main" id="{1C226F0C-70D1-80DC-39C5-2397911FF532}"/>
              </a:ext>
            </a:extLst>
          </p:cNvPr>
          <p:cNvSpPr>
            <a:spLocks noGrp="1"/>
          </p:cNvSpPr>
          <p:nvPr>
            <p:ph type="title"/>
          </p:nvPr>
        </p:nvSpPr>
        <p:spPr>
          <a:xfrm>
            <a:off x="645130" y="3604223"/>
            <a:ext cx="9404723" cy="1400530"/>
          </a:xfrm>
        </p:spPr>
        <p:txBody>
          <a:bodyPr/>
          <a:lstStyle/>
          <a:p>
            <a:r>
              <a:rPr lang="en-IN" dirty="0"/>
              <a:t>2. Buttons </a:t>
            </a:r>
            <a:endParaRPr lang="en-US" dirty="0"/>
          </a:p>
        </p:txBody>
      </p:sp>
      <p:sp>
        <p:nvSpPr>
          <p:cNvPr id="9" name="Content Placeholder 2">
            <a:extLst>
              <a:ext uri="{FF2B5EF4-FFF2-40B4-BE49-F238E27FC236}">
                <a16:creationId xmlns:a16="http://schemas.microsoft.com/office/drawing/2014/main" id="{E1881085-11B2-D98A-E133-68544B026A02}"/>
              </a:ext>
            </a:extLst>
          </p:cNvPr>
          <p:cNvSpPr>
            <a:spLocks noGrp="1"/>
          </p:cNvSpPr>
          <p:nvPr>
            <p:ph idx="1"/>
          </p:nvPr>
        </p:nvSpPr>
        <p:spPr>
          <a:xfrm>
            <a:off x="989617" y="5004753"/>
            <a:ext cx="8946541" cy="1551305"/>
          </a:xfrm>
        </p:spPr>
        <p:txBody>
          <a:bodyPr/>
          <a:lstStyle/>
          <a:p>
            <a:r>
              <a:rPr lang="en-IN" dirty="0"/>
              <a:t>Buttons are used to perform actions such as submitting forms, opening links, or triggering events. Bootstrap provides different button styles, sizes, and </a:t>
            </a:r>
            <a:r>
              <a:rPr lang="en-IN" dirty="0" err="1"/>
              <a:t>colors</a:t>
            </a:r>
            <a:r>
              <a:rPr lang="en-IN" dirty="0"/>
              <a:t>.</a:t>
            </a:r>
            <a:endParaRPr lang="en-US" dirty="0"/>
          </a:p>
        </p:txBody>
      </p:sp>
    </p:spTree>
    <p:extLst>
      <p:ext uri="{BB962C8B-B14F-4D97-AF65-F5344CB8AC3E}">
        <p14:creationId xmlns:p14="http://schemas.microsoft.com/office/powerpoint/2010/main" val="1667832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039A0-C3E4-C768-EBAA-389B6BFA41BE}"/>
              </a:ext>
            </a:extLst>
          </p:cNvPr>
          <p:cNvSpPr>
            <a:spLocks noGrp="1"/>
          </p:cNvSpPr>
          <p:nvPr>
            <p:ph type="title"/>
          </p:nvPr>
        </p:nvSpPr>
        <p:spPr/>
        <p:txBody>
          <a:bodyPr/>
          <a:lstStyle/>
          <a:p>
            <a:r>
              <a:rPr lang="en-IN" dirty="0"/>
              <a:t>3. </a:t>
            </a:r>
            <a:r>
              <a:rPr lang="en-IN" dirty="0" err="1"/>
              <a:t>Navbar</a:t>
            </a:r>
            <a:endParaRPr lang="en-US" dirty="0"/>
          </a:p>
        </p:txBody>
      </p:sp>
      <p:sp>
        <p:nvSpPr>
          <p:cNvPr id="3" name="Content Placeholder 2">
            <a:extLst>
              <a:ext uri="{FF2B5EF4-FFF2-40B4-BE49-F238E27FC236}">
                <a16:creationId xmlns:a16="http://schemas.microsoft.com/office/drawing/2014/main" id="{99B4B8CF-9DF1-C53D-F82A-4B3B204F2449}"/>
              </a:ext>
            </a:extLst>
          </p:cNvPr>
          <p:cNvSpPr>
            <a:spLocks noGrp="1"/>
          </p:cNvSpPr>
          <p:nvPr>
            <p:ph idx="1"/>
          </p:nvPr>
        </p:nvSpPr>
        <p:spPr>
          <a:xfrm>
            <a:off x="1103312" y="2028470"/>
            <a:ext cx="8946541" cy="1400530"/>
          </a:xfrm>
        </p:spPr>
        <p:txBody>
          <a:bodyPr/>
          <a:lstStyle/>
          <a:p>
            <a:r>
              <a:rPr lang="en-IN" dirty="0"/>
              <a:t>The navigation bar (</a:t>
            </a:r>
            <a:r>
              <a:rPr lang="en-IN" dirty="0" err="1"/>
              <a:t>Navbar</a:t>
            </a:r>
            <a:r>
              <a:rPr lang="en-IN" dirty="0"/>
              <a:t>) is one of the most important Bootstrap components. It is used to create a responsive navigation menu for websites</a:t>
            </a:r>
            <a:endParaRPr lang="en-US" dirty="0"/>
          </a:p>
        </p:txBody>
      </p:sp>
      <p:sp>
        <p:nvSpPr>
          <p:cNvPr id="5" name="Title 1">
            <a:extLst>
              <a:ext uri="{FF2B5EF4-FFF2-40B4-BE49-F238E27FC236}">
                <a16:creationId xmlns:a16="http://schemas.microsoft.com/office/drawing/2014/main" id="{CF6194B5-FD51-C810-041E-43FAD0595539}"/>
              </a:ext>
            </a:extLst>
          </p:cNvPr>
          <p:cNvSpPr>
            <a:spLocks noGrp="1"/>
          </p:cNvSpPr>
          <p:nvPr>
            <p:ph type="title"/>
          </p:nvPr>
        </p:nvSpPr>
        <p:spPr>
          <a:xfrm>
            <a:off x="645130" y="3429000"/>
            <a:ext cx="9404723" cy="1400530"/>
          </a:xfrm>
        </p:spPr>
        <p:txBody>
          <a:bodyPr/>
          <a:lstStyle/>
          <a:p>
            <a:r>
              <a:rPr lang="en-IN" dirty="0"/>
              <a:t>4. Forms</a:t>
            </a:r>
            <a:endParaRPr lang="en-US" dirty="0"/>
          </a:p>
        </p:txBody>
      </p:sp>
      <p:sp>
        <p:nvSpPr>
          <p:cNvPr id="7" name="Content Placeholder 2">
            <a:extLst>
              <a:ext uri="{FF2B5EF4-FFF2-40B4-BE49-F238E27FC236}">
                <a16:creationId xmlns:a16="http://schemas.microsoft.com/office/drawing/2014/main" id="{C677594A-BAF4-24B7-186D-73E3AD4239D8}"/>
              </a:ext>
            </a:extLst>
          </p:cNvPr>
          <p:cNvSpPr>
            <a:spLocks noGrp="1"/>
          </p:cNvSpPr>
          <p:nvPr>
            <p:ph idx="1"/>
          </p:nvPr>
        </p:nvSpPr>
        <p:spPr>
          <a:xfrm>
            <a:off x="1103312" y="4648298"/>
            <a:ext cx="8946541" cy="1400530"/>
          </a:xfrm>
        </p:spPr>
        <p:txBody>
          <a:bodyPr/>
          <a:lstStyle/>
          <a:p>
            <a:r>
              <a:rPr lang="en-IN" dirty="0"/>
              <a:t>Forms are used to collect user input such as login details, registration information, feedback, etc. Bootstrap provides styled form controls like text boxes, password fields, checkboxes, radio buttons, select menus, and file upload fields.</a:t>
            </a:r>
            <a:endParaRPr lang="en-US" dirty="0"/>
          </a:p>
        </p:txBody>
      </p:sp>
    </p:spTree>
    <p:extLst>
      <p:ext uri="{BB962C8B-B14F-4D97-AF65-F5344CB8AC3E}">
        <p14:creationId xmlns:p14="http://schemas.microsoft.com/office/powerpoint/2010/main" val="2596957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58A82-F9D9-DC2B-197F-3A59A402F9AD}"/>
              </a:ext>
            </a:extLst>
          </p:cNvPr>
          <p:cNvSpPr>
            <a:spLocks noGrp="1"/>
          </p:cNvSpPr>
          <p:nvPr>
            <p:ph type="title"/>
          </p:nvPr>
        </p:nvSpPr>
        <p:spPr/>
        <p:txBody>
          <a:bodyPr/>
          <a:lstStyle/>
          <a:p>
            <a:r>
              <a:rPr lang="en-IN" dirty="0"/>
              <a:t>Conclusion</a:t>
            </a:r>
            <a:endParaRPr lang="en-US" dirty="0"/>
          </a:p>
        </p:txBody>
      </p:sp>
      <p:sp>
        <p:nvSpPr>
          <p:cNvPr id="3" name="Content Placeholder 2">
            <a:extLst>
              <a:ext uri="{FF2B5EF4-FFF2-40B4-BE49-F238E27FC236}">
                <a16:creationId xmlns:a16="http://schemas.microsoft.com/office/drawing/2014/main" id="{1816BCED-C8B0-4E3A-6F1F-CEE20D3543A4}"/>
              </a:ext>
            </a:extLst>
          </p:cNvPr>
          <p:cNvSpPr>
            <a:spLocks noGrp="1"/>
          </p:cNvSpPr>
          <p:nvPr>
            <p:ph idx="1"/>
          </p:nvPr>
        </p:nvSpPr>
        <p:spPr/>
        <p:txBody>
          <a:bodyPr>
            <a:normAutofit/>
          </a:bodyPr>
          <a:lstStyle/>
          <a:p>
            <a:r>
              <a:rPr lang="en-IN" sz="2400" dirty="0"/>
              <a:t>Bootstrap components are very useful for designing modern, responsive, and user-friendly websites. They reduce development time, improve design consistency, and make websites mobile-friendly. Bootstrap components like alerts, buttons, </a:t>
            </a:r>
            <a:r>
              <a:rPr lang="en-IN" sz="2400" dirty="0" err="1"/>
              <a:t>navbar</a:t>
            </a:r>
            <a:r>
              <a:rPr lang="en-IN" sz="2400" dirty="0"/>
              <a:t>, cards, forms, modal, carousel, dropdown, pagination, and progress bar are commonly used in web development.</a:t>
            </a:r>
            <a:endParaRPr lang="en-US" sz="2400" dirty="0"/>
          </a:p>
        </p:txBody>
      </p:sp>
    </p:spTree>
    <p:extLst>
      <p:ext uri="{BB962C8B-B14F-4D97-AF65-F5344CB8AC3E}">
        <p14:creationId xmlns:p14="http://schemas.microsoft.com/office/powerpoint/2010/main" val="1889228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4B896-9ACC-87A9-DB72-21E8F30FFC11}"/>
              </a:ext>
            </a:extLst>
          </p:cNvPr>
          <p:cNvSpPr>
            <a:spLocks noGrp="1"/>
          </p:cNvSpPr>
          <p:nvPr>
            <p:ph type="title"/>
          </p:nvPr>
        </p:nvSpPr>
        <p:spPr>
          <a:xfrm>
            <a:off x="4078782" y="2755320"/>
            <a:ext cx="3819410" cy="1347360"/>
          </a:xfrm>
        </p:spPr>
        <p:txBody>
          <a:bodyPr/>
          <a:lstStyle/>
          <a:p>
            <a:r>
              <a:rPr lang="en-IN" dirty="0"/>
              <a:t>THANK YOU </a:t>
            </a:r>
            <a:endParaRPr lang="en-US" dirty="0"/>
          </a:p>
        </p:txBody>
      </p:sp>
    </p:spTree>
    <p:extLst>
      <p:ext uri="{BB962C8B-B14F-4D97-AF65-F5344CB8AC3E}">
        <p14:creationId xmlns:p14="http://schemas.microsoft.com/office/powerpoint/2010/main" val="20985495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Ion</vt:lpstr>
      <vt:lpstr>Topic:- Introduction to Bootstrap And Components of Bootstrap </vt:lpstr>
      <vt:lpstr>What is Bootstrap ?</vt:lpstr>
      <vt:lpstr>Bootstrap History </vt:lpstr>
      <vt:lpstr>Why Use Bootstrap?</vt:lpstr>
      <vt:lpstr>Example </vt:lpstr>
      <vt:lpstr>Components of Bootstrap </vt:lpstr>
      <vt:lpstr>1. Alerts</vt:lpstr>
      <vt:lpstr>3. Navbar</vt:lpstr>
      <vt:lpstr>Conclusion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Introduction to Bootstrap And Components of Bootstrap </dc:title>
  <dc:creator>Sonu Kumar</dc:creator>
  <cp:lastModifiedBy>Sonu Kumar</cp:lastModifiedBy>
  <cp:revision>2</cp:revision>
  <dcterms:created xsi:type="dcterms:W3CDTF">2026-03-25T04:55:53Z</dcterms:created>
  <dcterms:modified xsi:type="dcterms:W3CDTF">2026-03-25T05:39:27Z</dcterms:modified>
</cp:coreProperties>
</file>