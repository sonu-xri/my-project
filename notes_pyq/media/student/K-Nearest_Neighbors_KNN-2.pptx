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69" r:id="rId4"/>
    <p:sldId id="258" r:id="rId5"/>
    <p:sldId id="260" r:id="rId6"/>
    <p:sldId id="261" r:id="rId7"/>
    <p:sldId id="259" r:id="rId8"/>
    <p:sldId id="267" r:id="rId9"/>
    <p:sldId id="268" r:id="rId10"/>
    <p:sldId id="262" r:id="rId11"/>
    <p:sldId id="263" r:id="rId12"/>
    <p:sldId id="264" r:id="rId13"/>
    <p:sldId id="265"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slide" Target="slides/slide14.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B9119543-8C9A-4E91-9A3D-18684E0432DB}" type="slidenum">
              <a:rPr lang="en-IN" smtClean="0"/>
              <a:t>‹#›</a:t>
            </a:fld>
            <a:endParaRPr lang="en-IN"/>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576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40462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3221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E527999-7314-45C5-9A7C-57076923BB4B}"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64947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E527999-7314-45C5-9A7C-57076923BB4B}" type="datetimeFigureOut">
              <a:rPr lang="en-IN" smtClean="0"/>
              <a:t>25-03-2026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9119543-8C9A-4E91-9A3D-18684E0432DB}" type="slidenum">
              <a:rPr lang="en-IN" smtClean="0"/>
              <a:t>‹#›</a:t>
            </a:fld>
            <a:endParaRPr lang="en-IN"/>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7074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E527999-7314-45C5-9A7C-57076923BB4B}" type="datetimeFigureOut">
              <a:rPr lang="en-IN" smtClean="0"/>
              <a:t>25-03-2026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9119543-8C9A-4E91-9A3D-18684E0432DB}" type="slidenum">
              <a:rPr lang="en-IN" smtClean="0"/>
              <a:t>‹#›</a:t>
            </a:fld>
            <a:endParaRPr lang="en-IN"/>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8692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527999-7314-45C5-9A7C-57076923BB4B}" type="datetimeFigureOut">
              <a:rPr lang="en-IN" smtClean="0"/>
              <a:t>25-03-2026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1366583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527999-7314-45C5-9A7C-57076923BB4B}"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119543-8C9A-4E91-9A3D-18684E0432DB}" type="slidenum">
              <a:rPr lang="en-IN" smtClean="0"/>
              <a:t>‹#›</a:t>
            </a:fld>
            <a:endParaRPr lang="en-IN"/>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72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527999-7314-45C5-9A7C-57076923BB4B}"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2684106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E527999-7314-45C5-9A7C-57076923BB4B}" type="datetimeFigureOut">
              <a:rPr lang="en-IN" smtClean="0"/>
              <a:t>25-03-2026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2200609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3836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3384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spTree>
    <p:extLst>
      <p:ext uri="{BB962C8B-B14F-4D97-AF65-F5344CB8AC3E}">
        <p14:creationId xmlns:p14="http://schemas.microsoft.com/office/powerpoint/2010/main" val="3042165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07085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83045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9272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E527999-7314-45C5-9A7C-57076923BB4B}" type="datetimeFigureOut">
              <a:rPr lang="en-IN" smtClean="0"/>
              <a:t>25-03-2026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9119543-8C9A-4E91-9A3D-18684E0432DB}" type="slidenum">
              <a:rPr lang="en-IN" smtClean="0"/>
              <a:t>‹#›</a:t>
            </a:fld>
            <a:endParaRPr lang="en-IN"/>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5682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E527999-7314-45C5-9A7C-57076923BB4B}" type="datetimeFigureOut">
              <a:rPr lang="en-IN" smtClean="0"/>
              <a:t>25-03-2026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9119543-8C9A-4E91-9A3D-18684E0432DB}" type="slidenum">
              <a:rPr lang="en-IN" smtClean="0"/>
              <a:t>‹#›</a:t>
            </a:fld>
            <a:endParaRPr lang="en-IN"/>
          </a:p>
        </p:txBody>
      </p:sp>
    </p:spTree>
    <p:extLst>
      <p:ext uri="{BB962C8B-B14F-4D97-AF65-F5344CB8AC3E}">
        <p14:creationId xmlns:p14="http://schemas.microsoft.com/office/powerpoint/2010/main" val="172838044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7.xml" /><Relationship Id="rId4" Type="http://schemas.openxmlformats.org/officeDocument/2006/relationships/image" Target="../media/image7.png" /></Relationships>
</file>

<file path=ppt/slides/_rels/slide4.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machine-learning/elbow-method-for-optimal-value-of-k-in-kmeans/%22%20target=/" TargetMode="External" /><Relationship Id="rId2" Type="http://schemas.openxmlformats.org/officeDocument/2006/relationships/hyperlink" Target="https://www.geeksforgeeks.org/machine-learning/cross-validation-machine-learning/%22/%20target=/" TargetMode="Externa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4E6B8-FFAE-D79E-3D06-CB1C57BA17D4}"/>
              </a:ext>
            </a:extLst>
          </p:cNvPr>
          <p:cNvSpPr>
            <a:spLocks noGrp="1"/>
          </p:cNvSpPr>
          <p:nvPr>
            <p:ph type="ctrTitle"/>
          </p:nvPr>
        </p:nvSpPr>
        <p:spPr/>
        <p:txBody>
          <a:bodyPr/>
          <a:lstStyle/>
          <a:p>
            <a:r>
              <a:rPr lang="en-US" altLang="en-US" b="1" u="sng" dirty="0">
                <a:latin typeface="Nunito" pitchFamily="2" charset="0"/>
              </a:rPr>
              <a:t>K-Nearest Neighbors (KNN)</a:t>
            </a:r>
            <a:endParaRPr lang="en-IN" dirty="0"/>
          </a:p>
        </p:txBody>
      </p:sp>
      <p:sp>
        <p:nvSpPr>
          <p:cNvPr id="3" name="Subtitle 2">
            <a:extLst>
              <a:ext uri="{FF2B5EF4-FFF2-40B4-BE49-F238E27FC236}">
                <a16:creationId xmlns:a16="http://schemas.microsoft.com/office/drawing/2014/main" id="{B9B5D2C5-B1C4-F033-58C4-23E339AA09F0}"/>
              </a:ext>
            </a:extLst>
          </p:cNvPr>
          <p:cNvSpPr>
            <a:spLocks noGrp="1"/>
          </p:cNvSpPr>
          <p:nvPr>
            <p:ph type="subTitle" idx="1"/>
          </p:nvPr>
        </p:nvSpPr>
        <p:spPr/>
        <p:txBody>
          <a:bodyPr>
            <a:normAutofit lnSpcReduction="10000"/>
          </a:bodyPr>
          <a:lstStyle/>
          <a:p>
            <a:pPr algn="r"/>
            <a:r>
              <a:rPr lang="en-US" dirty="0"/>
              <a:t>Muskan</a:t>
            </a:r>
          </a:p>
          <a:p>
            <a:pPr algn="r"/>
            <a:r>
              <a:rPr lang="en-US" dirty="0"/>
              <a:t>2443324</a:t>
            </a:r>
          </a:p>
          <a:p>
            <a:pPr algn="r"/>
            <a:r>
              <a:rPr lang="en-US" dirty="0"/>
              <a:t>MCA  4</a:t>
            </a:r>
            <a:endParaRPr lang="en-IN" dirty="0"/>
          </a:p>
        </p:txBody>
      </p:sp>
    </p:spTree>
    <p:extLst>
      <p:ext uri="{BB962C8B-B14F-4D97-AF65-F5344CB8AC3E}">
        <p14:creationId xmlns:p14="http://schemas.microsoft.com/office/powerpoint/2010/main" val="98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96F017-F31F-3EA1-F417-A166F4F4AD3C}"/>
              </a:ext>
            </a:extLst>
          </p:cNvPr>
          <p:cNvSpPr>
            <a:spLocks noChangeArrowheads="1"/>
          </p:cNvSpPr>
          <p:nvPr/>
        </p:nvSpPr>
        <p:spPr bwMode="auto">
          <a:xfrm>
            <a:off x="1200670" y="956142"/>
            <a:ext cx="9790659"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lvl="0" indent="-285750" algn="ctr" defTabSz="914400">
              <a:buFont typeface="Arial" panose="020B0604020202020204" pitchFamily="34" charset="0"/>
              <a:buChar char="•"/>
            </a:pPr>
            <a:r>
              <a:rPr lang="en-US" altLang="en-US" sz="2400" b="1" u="sng" dirty="0">
                <a:ea typeface="Calibri" panose="020F0502020204030204" pitchFamily="34" charset="0"/>
                <a:cs typeface="Arial" panose="020B0604020202020204" pitchFamily="34" charset="0"/>
              </a:rPr>
              <a:t>K-Nearest Neighbors (KNN)</a:t>
            </a:r>
          </a:p>
          <a:p>
            <a:pPr lvl="0" algn="just" defTabSz="914400"/>
            <a:endParaRPr kumimoji="0" lang="en-US" altLang="en-US" sz="2400" b="1" i="0" u="sng"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rPr>
              <a:t>K-Nearest Neighbors (KNN) is a supervised machine learning algorithm generally used for classification but can also be used for regression tasks.</a:t>
            </a:r>
          </a:p>
          <a:p>
            <a:pPr marR="0" lvl="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rPr>
              <a:t>It works by finding the "k" closest data points (neighbors) to a given input and makes a predictions based on the majority class (for classification) or the average value (for regression). </a:t>
            </a:r>
          </a:p>
          <a:p>
            <a:pPr marR="0" lvl="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rPr>
              <a:t>Since KNN makes no assumptions about the underlying data distribution it makes it a non-parametric and instance-based learning method.</a:t>
            </a:r>
          </a:p>
          <a:p>
            <a:pPr marR="0" lvl="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L="285750" lvl="0" indent="-285750" algn="just" defTabSz="914400">
              <a:buFont typeface="Arial" panose="020B0604020202020204" pitchFamily="34" charset="0"/>
              <a:buChar char="•"/>
            </a:pPr>
            <a:r>
              <a:rPr lang="en-US" dirty="0">
                <a:ea typeface="Calibri" panose="020F0502020204030204" pitchFamily="34" charset="0"/>
                <a:cs typeface="Arial" panose="020B0604020202020204" pitchFamily="34" charset="0"/>
              </a:rPr>
              <a:t>K-Nearest Neighbors is also called as a lazy learner algorithm because it does not learn from the training set immediately instead it stores the entire dataset and performs computations only at the time of classification.</a:t>
            </a:r>
            <a:endParaRPr kumimoji="0" lang="en-US" altLang="en-US" sz="1050"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rgbClr val="273239"/>
              </a:solidFill>
              <a:effectLst/>
              <a:ea typeface="Calibri" panose="020F0502020204030204" pitchFamily="34" charset="0"/>
              <a:cs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ea typeface="Calibri" panose="020F0502020204030204" pitchFamily="34" charset="0"/>
                <a:cs typeface="Arial" panose="020B0604020202020204" pitchFamily="34" charset="0"/>
              </a:rPr>
              <a:t>  </a:t>
            </a:r>
            <a:r>
              <a:rPr kumimoji="0" lang="en-US" altLang="en-US" sz="2800" b="0" i="0" u="none" strike="noStrike" cap="none" normalizeH="0" baseline="0" dirty="0">
                <a:ln>
                  <a:noFill/>
                </a:ln>
                <a:solidFill>
                  <a:srgbClr val="273239"/>
                </a:solidFill>
                <a:effectLst/>
                <a:ea typeface="Calibri" panose="020F0502020204030204" pitchFamily="34" charset="0"/>
                <a:cs typeface="Arial" panose="020B0604020202020204" pitchFamily="34" charset="0"/>
              </a:rPr>
              <a:t>     </a:t>
            </a:r>
            <a:r>
              <a:rPr kumimoji="0" lang="en-US" altLang="en-US" b="0" i="0" u="none" strike="noStrike" cap="none" normalizeH="0" baseline="0" dirty="0">
                <a:ln>
                  <a:noFill/>
                </a:ln>
                <a:solidFill>
                  <a:srgbClr val="273239"/>
                </a:solidFill>
                <a:effectLst/>
                <a:ea typeface="Calibri" panose="020F0502020204030204" pitchFamily="34" charset="0"/>
                <a:cs typeface="Arial" panose="020B0604020202020204" pitchFamily="34" charset="0"/>
              </a:rPr>
              <a:t>  </a:t>
            </a:r>
            <a:r>
              <a:rPr kumimoji="0" lang="en-US" altLang="en-US" sz="2800" b="0" i="0" u="none" strike="noStrike" cap="none" normalizeH="0" baseline="0" dirty="0">
                <a:ln>
                  <a:noFill/>
                </a:ln>
                <a:solidFill>
                  <a:srgbClr val="273239"/>
                </a:solidFill>
                <a:effectLst/>
                <a:ea typeface="Calibri" panose="020F0502020204030204" pitchFamily="34" charset="0"/>
                <a:cs typeface="Arial" panose="020B0604020202020204" pitchFamily="34" charset="0"/>
              </a:rPr>
              <a:t>     </a:t>
            </a:r>
            <a:br>
              <a:rPr kumimoji="0" lang="en-US" altLang="en-US" b="0" i="0" u="none" strike="noStrike" cap="none" normalizeH="0" baseline="0" dirty="0">
                <a:ln>
                  <a:noFill/>
                </a:ln>
                <a:solidFill>
                  <a:srgbClr val="273239"/>
                </a:solidFill>
                <a:effectLst/>
                <a:ea typeface="Calibri" panose="020F0502020204030204" pitchFamily="34" charset="0"/>
                <a:cs typeface="Arial" panose="020B0604020202020204" pitchFamily="34" charset="0"/>
              </a:rPr>
            </a:br>
            <a:endParaRPr kumimoji="0" lang="en-US" altLang="en-US" sz="2800" b="0" i="0" u="none" strike="noStrike" cap="none" normalizeH="0" baseline="0" dirty="0">
              <a:ln>
                <a:noFill/>
              </a:ln>
              <a:solidFill>
                <a:schemeClr val="tx1"/>
              </a:solidFill>
              <a:effectLst/>
              <a:ea typeface="Calibri" panose="020F0502020204030204" pitchFamily="34" charset="0"/>
              <a:cs typeface="Arial" panose="020B0604020202020204" pitchFamily="34" charset="0"/>
            </a:endParaRPr>
          </a:p>
        </p:txBody>
      </p:sp>
      <p:sp>
        <p:nvSpPr>
          <p:cNvPr id="3" name="AutoShape 2" descr="Initial-Data.webp">
            <a:extLst>
              <a:ext uri="{FF2B5EF4-FFF2-40B4-BE49-F238E27FC236}">
                <a16:creationId xmlns:a16="http://schemas.microsoft.com/office/drawing/2014/main" id="{B46AB5AE-C878-E5B5-259A-2116F0160544}"/>
              </a:ext>
            </a:extLst>
          </p:cNvPr>
          <p:cNvSpPr>
            <a:spLocks noChangeAspect="1" noChangeArrowheads="1"/>
          </p:cNvSpPr>
          <p:nvPr/>
        </p:nvSpPr>
        <p:spPr bwMode="auto">
          <a:xfrm>
            <a:off x="85725" y="-282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3" descr="Initial-Data.webp">
            <a:extLst>
              <a:ext uri="{FF2B5EF4-FFF2-40B4-BE49-F238E27FC236}">
                <a16:creationId xmlns:a16="http://schemas.microsoft.com/office/drawing/2014/main" id="{7C227FFC-8702-87D7-07A9-09A3EE3379BD}"/>
              </a:ext>
            </a:extLst>
          </p:cNvPr>
          <p:cNvSpPr>
            <a:spLocks noChangeAspect="1" noChangeArrowheads="1"/>
          </p:cNvSpPr>
          <p:nvPr/>
        </p:nvSpPr>
        <p:spPr bwMode="auto">
          <a:xfrm>
            <a:off x="481013" y="-282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577401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E50D17-3D71-892B-4DF4-AD0F2FBD4BD0}"/>
              </a:ext>
            </a:extLst>
          </p:cNvPr>
          <p:cNvPicPr>
            <a:picLocks noChangeAspect="1"/>
          </p:cNvPicPr>
          <p:nvPr/>
        </p:nvPicPr>
        <p:blipFill>
          <a:blip r:embed="rId2"/>
          <a:srcRect l="7595" r="5335" b="7484"/>
          <a:stretch>
            <a:fillRect/>
          </a:stretch>
        </p:blipFill>
        <p:spPr>
          <a:xfrm>
            <a:off x="1058031" y="511279"/>
            <a:ext cx="4539691" cy="2846438"/>
          </a:xfrm>
          <a:prstGeom prst="rect">
            <a:avLst/>
          </a:prstGeom>
        </p:spPr>
      </p:pic>
      <p:pic>
        <p:nvPicPr>
          <p:cNvPr id="5" name="Picture 4">
            <a:extLst>
              <a:ext uri="{FF2B5EF4-FFF2-40B4-BE49-F238E27FC236}">
                <a16:creationId xmlns:a16="http://schemas.microsoft.com/office/drawing/2014/main" id="{83C67397-FF94-0D24-CD89-ED9A947E1F20}"/>
              </a:ext>
            </a:extLst>
          </p:cNvPr>
          <p:cNvPicPr>
            <a:picLocks noChangeAspect="1"/>
          </p:cNvPicPr>
          <p:nvPr/>
        </p:nvPicPr>
        <p:blipFill>
          <a:blip r:embed="rId3"/>
          <a:srcRect l="6956" t="2323" r="8047" b="5161"/>
          <a:stretch>
            <a:fillRect/>
          </a:stretch>
        </p:blipFill>
        <p:spPr>
          <a:xfrm>
            <a:off x="6256460" y="511279"/>
            <a:ext cx="4877509" cy="2846438"/>
          </a:xfrm>
          <a:prstGeom prst="rect">
            <a:avLst/>
          </a:prstGeom>
        </p:spPr>
      </p:pic>
      <p:pic>
        <p:nvPicPr>
          <p:cNvPr id="7" name="Picture 6">
            <a:extLst>
              <a:ext uri="{FF2B5EF4-FFF2-40B4-BE49-F238E27FC236}">
                <a16:creationId xmlns:a16="http://schemas.microsoft.com/office/drawing/2014/main" id="{DA03E83A-52A8-B473-EF05-ED7B2CE9A546}"/>
              </a:ext>
            </a:extLst>
          </p:cNvPr>
          <p:cNvPicPr>
            <a:picLocks noChangeAspect="1"/>
          </p:cNvPicPr>
          <p:nvPr/>
        </p:nvPicPr>
        <p:blipFill>
          <a:blip r:embed="rId4"/>
          <a:srcRect l="7807" r="6515"/>
          <a:stretch>
            <a:fillRect/>
          </a:stretch>
        </p:blipFill>
        <p:spPr>
          <a:xfrm>
            <a:off x="3571898" y="3500283"/>
            <a:ext cx="4877509" cy="2846438"/>
          </a:xfrm>
          <a:prstGeom prst="rect">
            <a:avLst/>
          </a:prstGeom>
        </p:spPr>
      </p:pic>
    </p:spTree>
    <p:extLst>
      <p:ext uri="{BB962C8B-B14F-4D97-AF65-F5344CB8AC3E}">
        <p14:creationId xmlns:p14="http://schemas.microsoft.com/office/powerpoint/2010/main" val="2838820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26B1E2-F28E-5C2F-0B17-8B0E7384367B}"/>
              </a:ext>
            </a:extLst>
          </p:cNvPr>
          <p:cNvSpPr>
            <a:spLocks noChangeArrowheads="1"/>
          </p:cNvSpPr>
          <p:nvPr/>
        </p:nvSpPr>
        <p:spPr bwMode="auto">
          <a:xfrm>
            <a:off x="796413" y="1011852"/>
            <a:ext cx="9989574" cy="25237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5235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For example, consider two features </a:t>
            </a:r>
            <a:r>
              <a:rPr kumimoji="0" lang="en-US" altLang="en-US" b="0" i="0" u="none" strike="noStrike" cap="none" normalizeH="0" baseline="0" dirty="0" err="1">
                <a:ln>
                  <a:noFill/>
                </a:ln>
                <a:solidFill>
                  <a:srgbClr val="273239"/>
                </a:solidFill>
                <a:effectLst/>
                <a:latin typeface="Nunito" pitchFamily="2" charset="0"/>
              </a:rPr>
              <a:t>i.e</a:t>
            </a:r>
            <a:r>
              <a:rPr kumimoji="0" lang="en-US" altLang="en-US" b="0" i="0" u="none" strike="noStrike" cap="none" normalizeH="0" baseline="0" dirty="0">
                <a:ln>
                  <a:noFill/>
                </a:ln>
                <a:solidFill>
                  <a:srgbClr val="273239"/>
                </a:solidFill>
                <a:effectLst/>
                <a:latin typeface="Nunito" pitchFamily="2" charset="0"/>
              </a:rPr>
              <a:t> Category 1 and Category 2:</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273239"/>
                </a:solidFill>
                <a:effectLst/>
                <a:latin typeface="Nunito" pitchFamily="2" charset="0"/>
              </a:rPr>
              <a:t>KNN assigns the category based on the majority of nearby points. The image shows how KNN predicts the category of a new data point based on its closest </a:t>
            </a:r>
            <a:r>
              <a:rPr kumimoji="0" lang="en-US" altLang="en-US" b="0" i="0" u="none" strike="noStrike" cap="none" normalizeH="0" baseline="0" dirty="0" err="1">
                <a:ln>
                  <a:noFill/>
                </a:ln>
                <a:solidFill>
                  <a:srgbClr val="273239"/>
                </a:solidFill>
                <a:effectLst/>
                <a:latin typeface="Nunito" pitchFamily="2" charset="0"/>
              </a:rPr>
              <a:t>neighbours</a:t>
            </a:r>
            <a:r>
              <a:rPr kumimoji="0" lang="en-US" altLang="en-US" b="0" i="0" u="none" strike="noStrike" cap="none" normalizeH="0" baseline="0" dirty="0">
                <a:ln>
                  <a:noFill/>
                </a:ln>
                <a:solidFill>
                  <a:srgbClr val="273239"/>
                </a:solidFill>
                <a:effectLst/>
                <a:latin typeface="Nunito" pitchFamily="2"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273239"/>
                </a:solidFill>
                <a:effectLst/>
                <a:latin typeface="Nunito" pitchFamily="2" charset="0"/>
              </a:rPr>
              <a:t>The green points represent Category 1 and the red points represent Category 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273239"/>
                </a:solidFill>
                <a:effectLst/>
                <a:latin typeface="Nunito" pitchFamily="2" charset="0"/>
              </a:rPr>
              <a:t>The new data point checks its closest neighbors (circled 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273239"/>
                </a:solidFill>
                <a:effectLst/>
                <a:latin typeface="Nunito" pitchFamily="2" charset="0"/>
              </a:rPr>
              <a:t>Since the majority of its closest neighbors are red points (Category 2) KNN predicts the new data point belongs to Category 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D04767FF-DC2D-731B-D532-C2E02AB3329C}"/>
              </a:ext>
            </a:extLst>
          </p:cNvPr>
          <p:cNvPicPr>
            <a:picLocks noChangeAspect="1"/>
          </p:cNvPicPr>
          <p:nvPr/>
        </p:nvPicPr>
        <p:blipFill>
          <a:blip r:embed="rId2"/>
          <a:stretch>
            <a:fillRect/>
          </a:stretch>
        </p:blipFill>
        <p:spPr>
          <a:xfrm>
            <a:off x="2674374" y="3163529"/>
            <a:ext cx="6774426" cy="3065207"/>
          </a:xfrm>
          <a:prstGeom prst="rect">
            <a:avLst/>
          </a:prstGeom>
        </p:spPr>
      </p:pic>
    </p:spTree>
    <p:extLst>
      <p:ext uri="{BB962C8B-B14F-4D97-AF65-F5344CB8AC3E}">
        <p14:creationId xmlns:p14="http://schemas.microsoft.com/office/powerpoint/2010/main" val="69225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E804-B0E1-D005-F071-E8A541A17D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6B5E419-02FB-7048-7EAF-04A2B421F55E}"/>
              </a:ext>
            </a:extLst>
          </p:cNvPr>
          <p:cNvSpPr txBox="1"/>
          <p:nvPr/>
        </p:nvSpPr>
        <p:spPr>
          <a:xfrm>
            <a:off x="1096296" y="1453677"/>
            <a:ext cx="9999407" cy="3005951"/>
          </a:xfrm>
          <a:prstGeom prst="rect">
            <a:avLst/>
          </a:prstGeom>
          <a:noFill/>
        </p:spPr>
        <p:txBody>
          <a:bodyPr wrap="square">
            <a:spAutoFit/>
          </a:bodyPr>
          <a:lstStyle/>
          <a:p>
            <a:pPr algn="just" fontAlgn="base">
              <a:lnSpc>
                <a:spcPts val="2100"/>
              </a:lnSpc>
              <a:buNone/>
            </a:pPr>
            <a:r>
              <a:rPr lang="en-US" b="1" i="0" u="sng" dirty="0">
                <a:solidFill>
                  <a:srgbClr val="273239"/>
                </a:solidFill>
                <a:effectLst/>
                <a:latin typeface="Nunito" pitchFamily="2" charset="0"/>
              </a:rPr>
              <a:t>What is 'K' in K Nearest </a:t>
            </a:r>
            <a:r>
              <a:rPr lang="en-US" b="1" i="0" u="sng" dirty="0" err="1">
                <a:solidFill>
                  <a:srgbClr val="273239"/>
                </a:solidFill>
                <a:effectLst/>
                <a:latin typeface="Nunito" pitchFamily="2" charset="0"/>
              </a:rPr>
              <a:t>Neighbour</a:t>
            </a:r>
            <a:r>
              <a:rPr lang="en-US" b="1" i="0" u="sng" dirty="0">
                <a:solidFill>
                  <a:srgbClr val="273239"/>
                </a:solidFill>
                <a:effectLst/>
                <a:latin typeface="Nunito" pitchFamily="2" charset="0"/>
              </a:rPr>
              <a:t>?</a:t>
            </a:r>
          </a:p>
          <a:p>
            <a:pPr algn="just" fontAlgn="base">
              <a:lnSpc>
                <a:spcPts val="2100"/>
              </a:lnSpc>
              <a:buNone/>
            </a:pPr>
            <a:endParaRPr lang="en-US" b="1" i="0" u="sng" dirty="0">
              <a:solidFill>
                <a:srgbClr val="273239"/>
              </a:solidFill>
              <a:effectLst/>
              <a:latin typeface="Nunito" pitchFamily="2" charset="0"/>
            </a:endParaRPr>
          </a:p>
          <a:p>
            <a:pPr algn="just" rtl="0" fontAlgn="base">
              <a:spcAft>
                <a:spcPts val="750"/>
              </a:spcAft>
              <a:buNone/>
            </a:pPr>
            <a:r>
              <a:rPr lang="en-US" b="0" i="0" dirty="0">
                <a:solidFill>
                  <a:srgbClr val="273239"/>
                </a:solidFill>
                <a:effectLst/>
                <a:latin typeface="Nunito" pitchFamily="2" charset="0"/>
              </a:rPr>
              <a:t>In the k-Nearest </a:t>
            </a:r>
            <a:r>
              <a:rPr lang="en-US" b="0" i="0" dirty="0" err="1">
                <a:solidFill>
                  <a:srgbClr val="273239"/>
                </a:solidFill>
                <a:effectLst/>
                <a:latin typeface="Nunito" pitchFamily="2" charset="0"/>
              </a:rPr>
              <a:t>Neighbours</a:t>
            </a:r>
            <a:r>
              <a:rPr lang="en-US" b="0" i="0" dirty="0">
                <a:solidFill>
                  <a:srgbClr val="273239"/>
                </a:solidFill>
                <a:effectLst/>
                <a:latin typeface="Nunito" pitchFamily="2" charset="0"/>
              </a:rPr>
              <a:t> algorithm k is just a number that tells the algorithm how many nearby points or neighbors to look at when it makes a decision.</a:t>
            </a:r>
          </a:p>
          <a:p>
            <a:pPr algn="just" rtl="0" fontAlgn="base">
              <a:spcAft>
                <a:spcPts val="750"/>
              </a:spcAft>
              <a:buNone/>
            </a:pPr>
            <a:r>
              <a:rPr lang="en-US" b="1" i="0" dirty="0">
                <a:solidFill>
                  <a:srgbClr val="273239"/>
                </a:solidFill>
                <a:effectLst/>
                <a:latin typeface="Nunito" pitchFamily="2" charset="0"/>
              </a:rPr>
              <a:t>Example:</a:t>
            </a:r>
            <a:r>
              <a:rPr lang="en-US" b="0" i="0" dirty="0">
                <a:solidFill>
                  <a:srgbClr val="273239"/>
                </a:solidFill>
                <a:effectLst/>
                <a:latin typeface="Nunito" pitchFamily="2" charset="0"/>
              </a:rPr>
              <a:t> Imagine you're deciding which fruit it is based on its shape and size. You compare it to fruits you already know.</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If k = 3, the algorithm looks at the 3 closest fruits to the new one.</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If 2 of those 3 fruits are apples and 1 is a banana, the algorithm says the new fruit is an apple because most of its neighbors are apples.</a:t>
            </a:r>
          </a:p>
        </p:txBody>
      </p:sp>
    </p:spTree>
    <p:extLst>
      <p:ext uri="{BB962C8B-B14F-4D97-AF65-F5344CB8AC3E}">
        <p14:creationId xmlns:p14="http://schemas.microsoft.com/office/powerpoint/2010/main" val="1056417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A7134-CB78-9260-1A13-7B7CFC96D5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6DE850-886E-9C8A-C858-7B88F3F4A85B}"/>
              </a:ext>
            </a:extLst>
          </p:cNvPr>
          <p:cNvSpPr txBox="1"/>
          <p:nvPr/>
        </p:nvSpPr>
        <p:spPr>
          <a:xfrm>
            <a:off x="1415845" y="1427063"/>
            <a:ext cx="9399639" cy="3731791"/>
          </a:xfrm>
          <a:prstGeom prst="rect">
            <a:avLst/>
          </a:prstGeom>
          <a:noFill/>
        </p:spPr>
        <p:txBody>
          <a:bodyPr wrap="square">
            <a:spAutoFit/>
          </a:bodyPr>
          <a:lstStyle/>
          <a:p>
            <a:pPr algn="l" fontAlgn="base">
              <a:lnSpc>
                <a:spcPts val="2100"/>
              </a:lnSpc>
              <a:spcBef>
                <a:spcPts val="1800"/>
              </a:spcBef>
              <a:spcAft>
                <a:spcPts val="1800"/>
              </a:spcAft>
              <a:buNone/>
            </a:pPr>
            <a:r>
              <a:rPr lang="en-US" sz="2000" b="1" i="0" u="sng" dirty="0">
                <a:solidFill>
                  <a:srgbClr val="273239"/>
                </a:solidFill>
                <a:effectLst/>
                <a:latin typeface="Nunito" pitchFamily="2" charset="0"/>
              </a:rPr>
              <a:t>How to choose the value of k for KNN Algorithm?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value of k in KNN decides how many neighbors the algorithm looks at when making a prediction.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Choosing the right k is important for good results.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If the data has lots of noise or outliers, using a larger k can make the predictions more stable.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But if k is too large the model may become too simple and miss important patterns and this is called underfitting.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So k should be picked carefully based on the data.</a:t>
            </a:r>
          </a:p>
        </p:txBody>
      </p:sp>
    </p:spTree>
    <p:extLst>
      <p:ext uri="{BB962C8B-B14F-4D97-AF65-F5344CB8AC3E}">
        <p14:creationId xmlns:p14="http://schemas.microsoft.com/office/powerpoint/2010/main" val="4148233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D9929-60FC-E69B-C4D7-77CFB37CF6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B845E2-BD6D-5A85-A9DD-6F288AD60BE3}"/>
              </a:ext>
            </a:extLst>
          </p:cNvPr>
          <p:cNvSpPr txBox="1"/>
          <p:nvPr/>
        </p:nvSpPr>
        <p:spPr>
          <a:xfrm>
            <a:off x="1268360" y="1061178"/>
            <a:ext cx="9694607" cy="4378122"/>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Statistical Methods for Selecting k</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Cross-Validation</a:t>
            </a:r>
            <a:r>
              <a:rPr lang="en-US" b="0" i="0" dirty="0">
                <a:solidFill>
                  <a:srgbClr val="273239"/>
                </a:solidFill>
                <a:effectLst/>
                <a:latin typeface="Nunito" pitchFamily="2" charset="0"/>
              </a:rPr>
              <a:t>: </a:t>
            </a:r>
            <a:r>
              <a:rPr lang="en-US" b="0" i="0" u="sng" dirty="0">
                <a:solidFill>
                  <a:srgbClr val="357960"/>
                </a:solidFill>
                <a:effectLst/>
                <a:latin typeface="Nunito" pitchFamily="2" charset="0"/>
                <a:hlinkClick r:id="rId2"/>
              </a:rPr>
              <a:t>Cross-Validation </a:t>
            </a:r>
            <a:r>
              <a:rPr lang="en-US" b="0" i="0" dirty="0">
                <a:solidFill>
                  <a:srgbClr val="273239"/>
                </a:solidFill>
                <a:effectLst/>
                <a:latin typeface="Nunito" pitchFamily="2" charset="0"/>
              </a:rPr>
              <a:t>is a good way to find the best value of k is by using k-fold cross-validation. This means dividing the dataset into k parts. The model is trained on some of these parts and tested on the remaining ones. This process is repeated for each part. The k value that gives the highest average accuracy during these tests is usually the best one to use.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Elbow Method</a:t>
            </a:r>
            <a:r>
              <a:rPr lang="en-US" b="0" i="0" dirty="0">
                <a:solidFill>
                  <a:srgbClr val="273239"/>
                </a:solidFill>
                <a:effectLst/>
                <a:latin typeface="Nunito" pitchFamily="2" charset="0"/>
              </a:rPr>
              <a:t>: In </a:t>
            </a:r>
            <a:r>
              <a:rPr lang="en-US" b="0" i="0" u="sng" dirty="0">
                <a:solidFill>
                  <a:srgbClr val="357960"/>
                </a:solidFill>
                <a:effectLst/>
                <a:latin typeface="Nunito" pitchFamily="2" charset="0"/>
                <a:hlinkClick r:id="rId3"/>
              </a:rPr>
              <a:t>Elbow Method</a:t>
            </a:r>
            <a:r>
              <a:rPr lang="en-US" b="0" i="0" dirty="0">
                <a:solidFill>
                  <a:srgbClr val="273239"/>
                </a:solidFill>
                <a:effectLst/>
                <a:latin typeface="Nunito" pitchFamily="2" charset="0"/>
              </a:rPr>
              <a:t> we draw a graph showing the error rate or accuracy for different k values. As k increases the error usually drops at first. But after a certain point error stops decreasing quickly. The point where the curve changes direction and looks like an "elbow" is usually the best choice for k.</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Odd Values for k</a:t>
            </a:r>
            <a:r>
              <a:rPr lang="en-US" b="0" i="0" dirty="0">
                <a:solidFill>
                  <a:srgbClr val="273239"/>
                </a:solidFill>
                <a:effectLst/>
                <a:latin typeface="Nunito" pitchFamily="2" charset="0"/>
              </a:rPr>
              <a:t>: It’s a good idea to use an odd number for k especially in classification problems. This helps avoid ties when deciding which class is the most common among the neighbors.</a:t>
            </a:r>
          </a:p>
        </p:txBody>
      </p:sp>
    </p:spTree>
    <p:extLst>
      <p:ext uri="{BB962C8B-B14F-4D97-AF65-F5344CB8AC3E}">
        <p14:creationId xmlns:p14="http://schemas.microsoft.com/office/powerpoint/2010/main" val="283037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F8BA0A1-2DF9-060F-9FF9-98CE0EB6A92A}"/>
                  </a:ext>
                </a:extLst>
              </p:cNvPr>
              <p:cNvSpPr txBox="1"/>
              <p:nvPr/>
            </p:nvSpPr>
            <p:spPr>
              <a:xfrm>
                <a:off x="1111044" y="1178997"/>
                <a:ext cx="9674944" cy="4442883"/>
              </a:xfrm>
              <a:prstGeom prst="rect">
                <a:avLst/>
              </a:prstGeom>
              <a:noFill/>
            </p:spPr>
            <p:txBody>
              <a:bodyPr wrap="square">
                <a:spAutoFit/>
              </a:bodyPr>
              <a:lstStyle/>
              <a:p>
                <a:pPr algn="l" fontAlgn="base">
                  <a:lnSpc>
                    <a:spcPts val="2100"/>
                  </a:lnSpc>
                  <a:buNone/>
                </a:pPr>
                <a:r>
                  <a:rPr lang="en-IN" b="1" i="0" dirty="0">
                    <a:solidFill>
                      <a:srgbClr val="273239"/>
                    </a:solidFill>
                    <a:effectLst/>
                    <a:latin typeface="Nunito" pitchFamily="2" charset="0"/>
                  </a:rPr>
                  <a:t>Distance Metrics Used in KNN Algorithm</a:t>
                </a:r>
              </a:p>
              <a:p>
                <a:pPr algn="l" rtl="0" fontAlgn="base">
                  <a:spcAft>
                    <a:spcPts val="750"/>
                  </a:spcAft>
                  <a:buNone/>
                </a:pPr>
                <a:r>
                  <a:rPr lang="en-IN" b="0" i="0" dirty="0">
                    <a:solidFill>
                      <a:srgbClr val="273239"/>
                    </a:solidFill>
                    <a:effectLst/>
                    <a:latin typeface="Nunito" pitchFamily="2" charset="0"/>
                  </a:rPr>
                  <a:t>KNN uses distance metrics to identify nearest neighbor, these </a:t>
                </a:r>
                <a:r>
                  <a:rPr lang="en-IN" b="0" i="0">
                    <a:solidFill>
                      <a:srgbClr val="273239"/>
                    </a:solidFill>
                    <a:effectLst/>
                    <a:latin typeface="Nunito" pitchFamily="2" charset="0"/>
                  </a:rPr>
                  <a:t>neighbors</a:t>
                </a:r>
                <a:r>
                  <a:rPr lang="en-IN" b="0" i="0" dirty="0">
                    <a:solidFill>
                      <a:srgbClr val="273239"/>
                    </a:solidFill>
                    <a:effectLst/>
                    <a:latin typeface="Nunito" pitchFamily="2" charset="0"/>
                  </a:rPr>
                  <a:t> are used for classification and regression task. To identify nearest neighbor we use below distance metrics:</a:t>
                </a:r>
              </a:p>
              <a:p>
                <a:pPr algn="l" fontAlgn="base">
                  <a:lnSpc>
                    <a:spcPts val="2100"/>
                  </a:lnSpc>
                  <a:spcBef>
                    <a:spcPts val="1800"/>
                  </a:spcBef>
                  <a:spcAft>
                    <a:spcPts val="1800"/>
                  </a:spcAft>
                  <a:buNone/>
                </a:pPr>
                <a:r>
                  <a:rPr lang="en-IN" b="1" i="0" dirty="0">
                    <a:solidFill>
                      <a:srgbClr val="273239"/>
                    </a:solidFill>
                    <a:effectLst/>
                    <a:latin typeface="Nunito" pitchFamily="2" charset="0"/>
                  </a:rPr>
                  <a:t>1. Euclidean Distance</a:t>
                </a:r>
              </a:p>
              <a:p>
                <a:pPr algn="l" rtl="0" fontAlgn="base">
                  <a:spcAft>
                    <a:spcPts val="750"/>
                  </a:spcAft>
                  <a:buNone/>
                </a:pPr>
                <a:r>
                  <a:rPr lang="en-IN" b="0" i="0" dirty="0">
                    <a:solidFill>
                      <a:srgbClr val="273239"/>
                    </a:solidFill>
                    <a:effectLst/>
                    <a:latin typeface="Nunito" pitchFamily="2" charset="0"/>
                  </a:rPr>
                  <a:t>Euclidean distance is defined as the straight-line distance between two points in a plane or space. You can think of it like the shortest path you would walk if you were to go directly from one point to another.</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d>
                        <m:dPr>
                          <m:begChr m:val=""/>
                          <m:endChr m:val="]"/>
                          <m:ctrlPr>
                            <a:rPr lang="ar-AE" b="0" i="1" smtClean="0">
                              <a:latin typeface="Cambria Math" panose="02040503050406030204" pitchFamily="18" charset="0"/>
                            </a:rPr>
                          </m:ctrlPr>
                        </m:dPr>
                        <m:e>
                          <m:r>
                            <m:rPr>
                              <m:nor/>
                            </m:rPr>
                            <a:rPr lang="en-IN" b="0"/>
                            <m:t>distance</m:t>
                          </m:r>
                          <m:d>
                            <m:dPr>
                              <m:sepChr m:val=","/>
                              <m:ctrlPr>
                                <a:rPr lang="ar-AE" b="0" i="1">
                                  <a:latin typeface="Cambria Math" panose="02040503050406030204" pitchFamily="18" charset="0"/>
                                </a:rPr>
                              </m:ctrlPr>
                            </m:dPr>
                            <m:e>
                              <m:r>
                                <a:rPr lang="ar-AE" b="0" i="1">
                                  <a:latin typeface="Cambria Math" panose="02040503050406030204" pitchFamily="18" charset="0"/>
                                </a:rPr>
                                <m:t>𝑥</m:t>
                              </m:r>
                            </m:e>
                            <m:e>
                              <m:sSub>
                                <m:sSubPr>
                                  <m:ctrlPr>
                                    <a:rPr lang="ar-AE" b="0" i="1">
                                      <a:latin typeface="Cambria Math" panose="02040503050406030204" pitchFamily="18" charset="0"/>
                                    </a:rPr>
                                  </m:ctrlPr>
                                </m:sSubPr>
                                <m:e>
                                  <m:r>
                                    <a:rPr lang="ar-AE" b="0" i="1">
                                      <a:latin typeface="Cambria Math" panose="02040503050406030204" pitchFamily="18" charset="0"/>
                                    </a:rPr>
                                    <m:t>𝑋</m:t>
                                  </m:r>
                                </m:e>
                                <m:sub>
                                  <m:r>
                                    <a:rPr lang="ar-AE" b="0" i="1">
                                      <a:latin typeface="Cambria Math" panose="02040503050406030204" pitchFamily="18" charset="0"/>
                                    </a:rPr>
                                    <m:t>𝑖</m:t>
                                  </m:r>
                                </m:sub>
                              </m:sSub>
                            </m:e>
                          </m:d>
                          <m:r>
                            <a:rPr lang="ar-AE" b="0" i="0">
                              <a:latin typeface="Cambria Math" panose="02040503050406030204" pitchFamily="18" charset="0"/>
                            </a:rPr>
                            <m:t>=</m:t>
                          </m:r>
                          <m:rad>
                            <m:radPr>
                              <m:degHide m:val="on"/>
                              <m:ctrlPr>
                                <a:rPr lang="ar-AE" b="0" i="1">
                                  <a:latin typeface="Cambria Math" panose="02040503050406030204" pitchFamily="18" charset="0"/>
                                </a:rPr>
                              </m:ctrlPr>
                            </m:radPr>
                            <m:deg/>
                            <m:e>
                              <m:nary>
                                <m:naryPr>
                                  <m:chr m:val="∑"/>
                                  <m:limLoc m:val="subSup"/>
                                  <m:grow m:val="on"/>
                                  <m:ctrlPr>
                                    <a:rPr lang="ar-AE" b="0" i="1">
                                      <a:latin typeface="Cambria Math" panose="02040503050406030204" pitchFamily="18" charset="0"/>
                                    </a:rPr>
                                  </m:ctrlPr>
                                </m:naryPr>
                                <m:sub>
                                  <m:r>
                                    <a:rPr lang="ar-AE" b="0" i="1">
                                      <a:latin typeface="Cambria Math" panose="02040503050406030204" pitchFamily="18" charset="0"/>
                                    </a:rPr>
                                    <m:t>𝑗</m:t>
                                  </m:r>
                                  <m:r>
                                    <a:rPr lang="ar-AE" b="0" i="0">
                                      <a:latin typeface="Cambria Math" panose="02040503050406030204" pitchFamily="18" charset="0"/>
                                    </a:rPr>
                                    <m:t>=1</m:t>
                                  </m:r>
                                </m:sub>
                                <m:sup>
                                  <m:r>
                                    <a:rPr lang="ar-AE" b="0" i="1">
                                      <a:latin typeface="Cambria Math" panose="02040503050406030204" pitchFamily="18" charset="0"/>
                                    </a:rPr>
                                    <m:t>𝑑</m:t>
                                  </m:r>
                                </m:sup>
                                <m:e>
                                  <m:r>
                                    <a:rPr lang="ar-AE" b="0" i="0">
                                      <a:latin typeface="Cambria Math" panose="02040503050406030204" pitchFamily="18" charset="0"/>
                                    </a:rPr>
                                    <m:t>(</m:t>
                                  </m:r>
                                </m:e>
                              </m:nary>
                              <m:d>
                                <m:dPr>
                                  <m:begChr m:val=""/>
                                  <m:endChr m:val=""/>
                                  <m:ctrlPr>
                                    <a:rPr lang="ar-AE" b="0" i="1">
                                      <a:latin typeface="Cambria Math" panose="02040503050406030204" pitchFamily="18" charset="0"/>
                                    </a:rPr>
                                  </m:ctrlPr>
                                </m:dPr>
                                <m:e>
                                  <m:sSub>
                                    <m:sSubPr>
                                      <m:ctrlPr>
                                        <a:rPr lang="ar-AE" b="0" i="1">
                                          <a:latin typeface="Cambria Math" panose="02040503050406030204" pitchFamily="18" charset="0"/>
                                        </a:rPr>
                                      </m:ctrlPr>
                                    </m:sSubPr>
                                    <m:e>
                                      <m:r>
                                        <a:rPr lang="ar-AE" b="0" i="1">
                                          <a:latin typeface="Cambria Math" panose="02040503050406030204" pitchFamily="18" charset="0"/>
                                        </a:rPr>
                                        <m:t>𝑥</m:t>
                                      </m:r>
                                    </m:e>
                                    <m:sub>
                                      <m:r>
                                        <a:rPr lang="ar-AE" b="0" i="1">
                                          <a:latin typeface="Cambria Math" panose="02040503050406030204" pitchFamily="18" charset="0"/>
                                        </a:rPr>
                                        <m:t>𝑗</m:t>
                                      </m:r>
                                    </m:sub>
                                  </m:sSub>
                                  <m:r>
                                    <a:rPr lang="ar-AE" b="0" i="0">
                                      <a:latin typeface="Cambria Math" panose="02040503050406030204" pitchFamily="18" charset="0"/>
                                    </a:rPr>
                                    <m:t>−</m:t>
                                  </m:r>
                                  <m:sSub>
                                    <m:sSubPr>
                                      <m:ctrlPr>
                                        <a:rPr lang="ar-AE" b="0" i="1">
                                          <a:latin typeface="Cambria Math" panose="02040503050406030204" pitchFamily="18" charset="0"/>
                                        </a:rPr>
                                      </m:ctrlPr>
                                    </m:sSubPr>
                                    <m:e>
                                      <m:r>
                                        <a:rPr lang="ar-AE" b="0" i="1">
                                          <a:latin typeface="Cambria Math" panose="02040503050406030204" pitchFamily="18" charset="0"/>
                                        </a:rPr>
                                        <m:t>𝑋</m:t>
                                      </m:r>
                                    </m:e>
                                    <m:sub>
                                      <m:sSub>
                                        <m:sSubPr>
                                          <m:ctrlPr>
                                            <a:rPr lang="ar-AE" b="0" i="1">
                                              <a:latin typeface="Cambria Math" panose="02040503050406030204" pitchFamily="18" charset="0"/>
                                            </a:rPr>
                                          </m:ctrlPr>
                                        </m:sSubPr>
                                        <m:e>
                                          <m:r>
                                            <a:rPr lang="ar-AE" b="0" i="1">
                                              <a:latin typeface="Cambria Math" panose="02040503050406030204" pitchFamily="18" charset="0"/>
                                            </a:rPr>
                                            <m:t>𝑖</m:t>
                                          </m:r>
                                        </m:e>
                                        <m:sub>
                                          <m:r>
                                            <a:rPr lang="ar-AE" b="0" i="1">
                                              <a:latin typeface="Cambria Math" panose="02040503050406030204" pitchFamily="18" charset="0"/>
                                            </a:rPr>
                                            <m:t>𝑗</m:t>
                                          </m:r>
                                        </m:sub>
                                      </m:sSub>
                                    </m:sub>
                                  </m:sSub>
                                  <m:sSup>
                                    <m:sSupPr>
                                      <m:ctrlPr>
                                        <a:rPr lang="ar-AE" b="0" i="1">
                                          <a:latin typeface="Cambria Math" panose="02040503050406030204" pitchFamily="18" charset="0"/>
                                        </a:rPr>
                                      </m:ctrlPr>
                                    </m:sSupPr>
                                    <m:e>
                                      <m:d>
                                        <m:dPr>
                                          <m:begChr m:val=""/>
                                          <m:endChr m:val=""/>
                                          <m:ctrlPr>
                                            <a:rPr lang="ar-AE" b="0" i="1">
                                              <a:latin typeface="Cambria Math" panose="02040503050406030204" pitchFamily="18" charset="0"/>
                                            </a:rPr>
                                          </m:ctrlPr>
                                        </m:dPr>
                                        <m:e>
                                          <m:r>
                                            <a:rPr lang="ar-AE" b="0" i="0">
                                              <a:latin typeface="Cambria Math" panose="02040503050406030204" pitchFamily="18" charset="0"/>
                                            </a:rPr>
                                            <m:t>)</m:t>
                                          </m:r>
                                        </m:e>
                                      </m:d>
                                    </m:e>
                                    <m:sup>
                                      <m:r>
                                        <a:rPr lang="ar-AE" b="0" i="0">
                                          <a:latin typeface="Cambria Math" panose="02040503050406030204" pitchFamily="18" charset="0"/>
                                        </a:rPr>
                                        <m:t>2</m:t>
                                      </m:r>
                                    </m:sup>
                                  </m:sSup>
                                </m:e>
                              </m:d>
                            </m:e>
                          </m:rad>
                        </m:e>
                      </m:d>
                    </m:oMath>
                  </m:oMathPara>
                </a14:m>
                <a:endParaRPr lang="ar-AE" b="0" i="1" dirty="0">
                  <a:solidFill>
                    <a:srgbClr val="273239"/>
                  </a:solidFill>
                  <a:effectLst/>
                  <a:latin typeface="Nunito" pitchFamily="2" charset="0"/>
                </a:endParaRPr>
              </a:p>
              <a:p>
                <a:pPr algn="l" fontAlgn="base">
                  <a:lnSpc>
                    <a:spcPts val="2100"/>
                  </a:lnSpc>
                  <a:spcBef>
                    <a:spcPts val="1800"/>
                  </a:spcBef>
                  <a:spcAft>
                    <a:spcPts val="1800"/>
                  </a:spcAft>
                  <a:buNone/>
                </a:pPr>
                <a:endParaRPr lang="ar-AE" b="0" i="1" dirty="0">
                  <a:solidFill>
                    <a:srgbClr val="273239"/>
                  </a:solidFill>
                  <a:effectLst/>
                  <a:latin typeface="Nunito" pitchFamily="2" charset="0"/>
                </a:endParaRPr>
              </a:p>
            </p:txBody>
          </p:sp>
        </mc:Choice>
        <mc:Fallback xmlns="">
          <p:sp>
            <p:nvSpPr>
              <p:cNvPr id="3" name="TextBox 2">
                <a:extLst>
                  <a:ext uri="{FF2B5EF4-FFF2-40B4-BE49-F238E27FC236}">
                    <a16:creationId xmlns:a16="http://schemas.microsoft.com/office/drawing/2014/main" id="{7F8BA0A1-2DF9-060F-9FF9-98CE0EB6A92A}"/>
                  </a:ext>
                </a:extLst>
              </p:cNvPr>
              <p:cNvSpPr txBox="1">
                <a:spLocks noRot="1" noChangeAspect="1" noMove="1" noResize="1" noEditPoints="1" noAdjustHandles="1" noChangeArrowheads="1" noChangeShapeType="1" noTextEdit="1"/>
              </p:cNvSpPr>
              <p:nvPr/>
            </p:nvSpPr>
            <p:spPr>
              <a:xfrm>
                <a:off x="1111044" y="1178997"/>
                <a:ext cx="9674944" cy="4442883"/>
              </a:xfrm>
              <a:prstGeom prst="rect">
                <a:avLst/>
              </a:prstGeom>
              <a:blipFill>
                <a:blip r:embed="rId2"/>
                <a:stretch>
                  <a:fillRect l="-504" t="-823"/>
                </a:stretch>
              </a:blipFill>
            </p:spPr>
            <p:txBody>
              <a:bodyPr/>
              <a:lstStyle/>
              <a:p>
                <a:r>
                  <a:rPr lang="en-IN">
                    <a:noFill/>
                  </a:rPr>
                  <a:t> </a:t>
                </a:r>
              </a:p>
            </p:txBody>
          </p:sp>
        </mc:Fallback>
      </mc:AlternateContent>
    </p:spTree>
    <p:extLst>
      <p:ext uri="{BB962C8B-B14F-4D97-AF65-F5344CB8AC3E}">
        <p14:creationId xmlns:p14="http://schemas.microsoft.com/office/powerpoint/2010/main" val="3986513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FADF3A9-EDBF-D303-B601-01ED6396926E}"/>
                  </a:ext>
                </a:extLst>
              </p:cNvPr>
              <p:cNvSpPr txBox="1"/>
              <p:nvPr/>
            </p:nvSpPr>
            <p:spPr>
              <a:xfrm>
                <a:off x="1268362" y="656029"/>
                <a:ext cx="9379974" cy="5545942"/>
              </a:xfrm>
              <a:prstGeom prst="rect">
                <a:avLst/>
              </a:prstGeom>
              <a:noFill/>
            </p:spPr>
            <p:txBody>
              <a:bodyPr wrap="square">
                <a:spAutoFit/>
              </a:bodyPr>
              <a:lstStyle/>
              <a:p>
                <a:pPr fontAlgn="base">
                  <a:lnSpc>
                    <a:spcPts val="2100"/>
                  </a:lnSpc>
                  <a:spcBef>
                    <a:spcPts val="1800"/>
                  </a:spcBef>
                  <a:spcAft>
                    <a:spcPts val="1800"/>
                  </a:spcAft>
                </a:pPr>
                <a:r>
                  <a:rPr lang="ar-AE" b="1" dirty="0">
                    <a:solidFill>
                      <a:srgbClr val="273239"/>
                    </a:solidFill>
                    <a:latin typeface="Nunito" pitchFamily="2" charset="0"/>
                  </a:rPr>
                  <a:t>.</a:t>
                </a:r>
                <a:r>
                  <a:rPr lang="en-US" b="1" dirty="0">
                    <a:solidFill>
                      <a:srgbClr val="273239"/>
                    </a:solidFill>
                    <a:latin typeface="Nunito" pitchFamily="2" charset="0"/>
                  </a:rPr>
                  <a:t>2</a:t>
                </a:r>
                <a:r>
                  <a:rPr lang="ar-AE" b="1" dirty="0">
                    <a:solidFill>
                      <a:srgbClr val="273239"/>
                    </a:solidFill>
                    <a:latin typeface="Nunito" pitchFamily="2" charset="0"/>
                  </a:rPr>
                  <a:t> </a:t>
                </a:r>
                <a:r>
                  <a:rPr lang="en-IN" b="1" dirty="0">
                    <a:solidFill>
                      <a:srgbClr val="273239"/>
                    </a:solidFill>
                    <a:latin typeface="Nunito" pitchFamily="2" charset="0"/>
                  </a:rPr>
                  <a:t>Manhattan Distance</a:t>
                </a:r>
              </a:p>
              <a:p>
                <a:pPr fontAlgn="base">
                  <a:spcAft>
                    <a:spcPts val="750"/>
                  </a:spcAft>
                </a:pPr>
                <a:r>
                  <a:rPr lang="en-IN" dirty="0">
                    <a:solidFill>
                      <a:srgbClr val="273239"/>
                    </a:solidFill>
                    <a:latin typeface="Nunito" pitchFamily="2" charset="0"/>
                  </a:rPr>
                  <a:t>This is the total distance you would travel if you could only move along horizontal and vertical lines like a grid or city streets. It’s also called "taxicab distance" because a taxi can only drive along the grid-like streets of a city.</a:t>
                </a:r>
              </a:p>
              <a:p>
                <a:pPr fontAlgn="base">
                  <a:spcBef>
                    <a:spcPts val="750"/>
                  </a:spcBef>
                  <a:spcAft>
                    <a:spcPts val="750"/>
                  </a:spcAft>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𝑑</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a:latin typeface="Cambria Math" panose="02040503050406030204" pitchFamily="18" charset="0"/>
                        </a:rPr>
                        <m:t>=</m:t>
                      </m:r>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𝑖</m:t>
                          </m:r>
                          <m:r>
                            <a:rPr lang="ar-AE">
                              <a:latin typeface="Cambria Math" panose="02040503050406030204" pitchFamily="18" charset="0"/>
                            </a:rPr>
                            <m:t>=1</m:t>
                          </m:r>
                        </m:sub>
                        <m:sup>
                          <m:r>
                            <a:rPr lang="ar-AE" i="1">
                              <a:latin typeface="Cambria Math" panose="02040503050406030204" pitchFamily="18" charset="0"/>
                            </a:rPr>
                            <m:t>𝑛</m:t>
                          </m:r>
                        </m:sup>
                        <m:e>
                          <m:d>
                            <m:dPr>
                              <m:begChr m:val="∣"/>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d>
                        </m:e>
                      </m:nary>
                    </m:oMath>
                  </m:oMathPara>
                </a14:m>
                <a:endParaRPr lang="ar-AE" i="1" dirty="0">
                  <a:solidFill>
                    <a:srgbClr val="273239"/>
                  </a:solidFill>
                  <a:latin typeface="Nunito" pitchFamily="2" charset="0"/>
                </a:endParaRPr>
              </a:p>
              <a:p>
                <a:pPr algn="l" fontAlgn="base">
                  <a:lnSpc>
                    <a:spcPts val="2100"/>
                  </a:lnSpc>
                  <a:spcBef>
                    <a:spcPts val="1800"/>
                  </a:spcBef>
                  <a:spcAft>
                    <a:spcPts val="1800"/>
                  </a:spcAft>
                  <a:buNone/>
                </a:pPr>
                <a:r>
                  <a:rPr lang="en-US" b="1" i="0" dirty="0">
                    <a:solidFill>
                      <a:srgbClr val="273239"/>
                    </a:solidFill>
                    <a:effectLst/>
                    <a:latin typeface="Nunito" pitchFamily="2" charset="0"/>
                  </a:rPr>
                  <a:t>3</a:t>
                </a:r>
                <a:r>
                  <a:rPr lang="ar-AE" b="1" i="0" dirty="0">
                    <a:solidFill>
                      <a:srgbClr val="273239"/>
                    </a:solidFill>
                    <a:effectLst/>
                    <a:latin typeface="Nunito" pitchFamily="2" charset="0"/>
                  </a:rPr>
                  <a:t> </a:t>
                </a:r>
                <a:r>
                  <a:rPr lang="en-IN" b="1" i="0" dirty="0">
                    <a:solidFill>
                      <a:srgbClr val="273239"/>
                    </a:solidFill>
                    <a:effectLst/>
                    <a:latin typeface="Nunito" pitchFamily="2" charset="0"/>
                  </a:rPr>
                  <a:t>Minkowski Distance</a:t>
                </a:r>
              </a:p>
              <a:p>
                <a:pPr algn="l" rtl="0" fontAlgn="base">
                  <a:spcAft>
                    <a:spcPts val="750"/>
                  </a:spcAft>
                  <a:buNone/>
                </a:pPr>
                <a:r>
                  <a:rPr lang="en-IN" b="0" i="0" dirty="0">
                    <a:solidFill>
                      <a:srgbClr val="273239"/>
                    </a:solidFill>
                    <a:effectLst/>
                    <a:latin typeface="Nunito" pitchFamily="2" charset="0"/>
                  </a:rPr>
                  <a:t>Minkowski distance is like a family of distances, which includes both Euclidean and Manhattan distances as special cases.</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𝑑</m:t>
                      </m:r>
                      <m:d>
                        <m:dPr>
                          <m:sepChr m:val=","/>
                          <m:ctrlPr>
                            <a:rPr lang="ar-AE" i="1">
                              <a:latin typeface="Cambria Math" panose="02040503050406030204" pitchFamily="18" charset="0"/>
                            </a:rPr>
                          </m:ctrlPr>
                        </m:dPr>
                        <m:e>
                          <m:r>
                            <a:rPr lang="ar-AE" i="1">
                              <a:latin typeface="Cambria Math" panose="02040503050406030204" pitchFamily="18" charset="0"/>
                            </a:rPr>
                            <m:t>𝑥</m:t>
                          </m:r>
                        </m:e>
                        <m:e>
                          <m:r>
                            <a:rPr lang="ar-AE" i="1">
                              <a:latin typeface="Cambria Math" panose="02040503050406030204" pitchFamily="18" charset="0"/>
                            </a:rPr>
                            <m:t>𝑦</m:t>
                          </m:r>
                        </m:e>
                      </m:d>
                      <m:r>
                        <a:rPr lang="ar-AE" i="0">
                          <a:latin typeface="Cambria Math" panose="02040503050406030204" pitchFamily="18" charset="0"/>
                        </a:rPr>
                        <m:t>=</m:t>
                      </m:r>
                      <m:sSup>
                        <m:sSupPr>
                          <m:ctrlPr>
                            <a:rPr lang="ar-AE" i="1">
                              <a:latin typeface="Cambria Math" panose="02040503050406030204" pitchFamily="18" charset="0"/>
                            </a:rPr>
                          </m:ctrlPr>
                        </m:sSupPr>
                        <m:e>
                          <m:d>
                            <m:dPr>
                              <m:ctrlPr>
                                <a:rPr lang="ar-AE" i="1">
                                  <a:latin typeface="Cambria Math" panose="02040503050406030204" pitchFamily="18" charset="0"/>
                                </a:rPr>
                              </m:ctrlPr>
                            </m:dPr>
                            <m:e>
                              <m:nary>
                                <m:naryPr>
                                  <m:chr m:val="∑"/>
                                  <m:limLoc m:val="subSup"/>
                                  <m:grow m:val="on"/>
                                  <m:ctrlPr>
                                    <a:rPr lang="ar-AE" i="1">
                                      <a:latin typeface="Cambria Math" panose="02040503050406030204" pitchFamily="18" charset="0"/>
                                    </a:rPr>
                                  </m:ctrlPr>
                                </m:naryPr>
                                <m:sub>
                                  <m:r>
                                    <a:rPr lang="ar-AE" i="1">
                                      <a:latin typeface="Cambria Math" panose="02040503050406030204" pitchFamily="18" charset="0"/>
                                    </a:rPr>
                                    <m:t>𝑖</m:t>
                                  </m:r>
                                  <m:r>
                                    <a:rPr lang="ar-AE" i="0">
                                      <a:latin typeface="Cambria Math" panose="02040503050406030204" pitchFamily="18" charset="0"/>
                                    </a:rPr>
                                    <m:t>=1</m:t>
                                  </m:r>
                                </m:sub>
                                <m:sup>
                                  <m:r>
                                    <a:rPr lang="ar-AE" i="1">
                                      <a:latin typeface="Cambria Math" panose="02040503050406030204" pitchFamily="18" charset="0"/>
                                    </a:rPr>
                                    <m:t>𝑛</m:t>
                                  </m:r>
                                </m:sup>
                                <m:e>
                                  <m:sSup>
                                    <m:sSupPr>
                                      <m:ctrlPr>
                                        <a:rPr lang="ar-AE" i="1">
                                          <a:latin typeface="Cambria Math" panose="02040503050406030204" pitchFamily="18" charset="0"/>
                                        </a:rPr>
                                      </m:ctrlPr>
                                    </m:sSupPr>
                                    <m:e>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𝑖</m:t>
                                              </m:r>
                                            </m:sub>
                                          </m:sSub>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𝑖</m:t>
                                              </m:r>
                                            </m:sub>
                                          </m:sSub>
                                        </m:e>
                                      </m:d>
                                    </m:e>
                                    <m:sup>
                                      <m:r>
                                        <a:rPr lang="ar-AE" i="1">
                                          <a:latin typeface="Cambria Math" panose="02040503050406030204" pitchFamily="18" charset="0"/>
                                        </a:rPr>
                                        <m:t>𝑝</m:t>
                                      </m:r>
                                    </m:sup>
                                  </m:sSup>
                                </m:e>
                              </m:nary>
                            </m:e>
                          </m:d>
                        </m:e>
                        <m:sup>
                          <m:f>
                            <m:fPr>
                              <m:ctrlPr>
                                <a:rPr lang="ar-AE" i="1">
                                  <a:latin typeface="Cambria Math" panose="02040503050406030204" pitchFamily="18" charset="0"/>
                                </a:rPr>
                              </m:ctrlPr>
                            </m:fPr>
                            <m:num>
                              <m:r>
                                <a:rPr lang="ar-AE" i="0">
                                  <a:latin typeface="Cambria Math" panose="02040503050406030204" pitchFamily="18" charset="0"/>
                                </a:rPr>
                                <m:t>1</m:t>
                              </m:r>
                            </m:num>
                            <m:den>
                              <m:r>
                                <a:rPr lang="ar-AE" i="1">
                                  <a:latin typeface="Cambria Math" panose="02040503050406030204" pitchFamily="18" charset="0"/>
                                </a:rPr>
                                <m:t>𝑝</m:t>
                              </m:r>
                            </m:den>
                          </m:f>
                        </m:sup>
                      </m:sSup>
                    </m:oMath>
                  </m:oMathPara>
                </a14:m>
                <a:endParaRPr lang="ar-AE" b="0" i="1" dirty="0">
                  <a:solidFill>
                    <a:srgbClr val="273239"/>
                  </a:solidFill>
                  <a:effectLst/>
                  <a:latin typeface="Nunito" pitchFamily="2" charset="0"/>
                </a:endParaRPr>
              </a:p>
              <a:p>
                <a:pPr algn="l" rtl="0" fontAlgn="base">
                  <a:spcAft>
                    <a:spcPts val="750"/>
                  </a:spcAft>
                  <a:buNone/>
                </a:pPr>
                <a:r>
                  <a:rPr lang="en-IN" b="0" i="0" dirty="0">
                    <a:solidFill>
                      <a:srgbClr val="273239"/>
                    </a:solidFill>
                    <a:effectLst/>
                    <a:latin typeface="Nunito" pitchFamily="2" charset="0"/>
                  </a:rPr>
                  <a:t>From the formula above, when p=2, it becomes the same as the Euclidean distance formula and when p=1, it turns into the Manhattan distance formula. Minkowski distance is essentially a flexible formula that can represent either Euclidean or Manhattan distance depending on the value of p.</a:t>
                </a:r>
              </a:p>
            </p:txBody>
          </p:sp>
        </mc:Choice>
        <mc:Fallback xmlns="">
          <p:sp>
            <p:nvSpPr>
              <p:cNvPr id="3" name="TextBox 2">
                <a:extLst>
                  <a:ext uri="{FF2B5EF4-FFF2-40B4-BE49-F238E27FC236}">
                    <a16:creationId xmlns:a16="http://schemas.microsoft.com/office/drawing/2014/main" id="{7FADF3A9-EDBF-D303-B601-01ED6396926E}"/>
                  </a:ext>
                </a:extLst>
              </p:cNvPr>
              <p:cNvSpPr txBox="1">
                <a:spLocks noRot="1" noChangeAspect="1" noMove="1" noResize="1" noEditPoints="1" noAdjustHandles="1" noChangeArrowheads="1" noChangeShapeType="1" noTextEdit="1"/>
              </p:cNvSpPr>
              <p:nvPr/>
            </p:nvSpPr>
            <p:spPr>
              <a:xfrm>
                <a:off x="1268362" y="656029"/>
                <a:ext cx="9379974" cy="5545942"/>
              </a:xfrm>
              <a:prstGeom prst="rect">
                <a:avLst/>
              </a:prstGeom>
              <a:blipFill>
                <a:blip r:embed="rId2"/>
                <a:stretch>
                  <a:fillRect l="-585" t="-990" r="-975" b="-880"/>
                </a:stretch>
              </a:blipFill>
            </p:spPr>
            <p:txBody>
              <a:bodyPr/>
              <a:lstStyle/>
              <a:p>
                <a:r>
                  <a:rPr lang="en-IN">
                    <a:noFill/>
                  </a:rPr>
                  <a:t> </a:t>
                </a:r>
              </a:p>
            </p:txBody>
          </p:sp>
        </mc:Fallback>
      </mc:AlternateContent>
    </p:spTree>
    <p:extLst>
      <p:ext uri="{BB962C8B-B14F-4D97-AF65-F5344CB8AC3E}">
        <p14:creationId xmlns:p14="http://schemas.microsoft.com/office/powerpoint/2010/main" val="352224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15DE5E-4669-C11E-CA1D-67EAAA17795D}"/>
              </a:ext>
            </a:extLst>
          </p:cNvPr>
          <p:cNvSpPr txBox="1"/>
          <p:nvPr/>
        </p:nvSpPr>
        <p:spPr>
          <a:xfrm>
            <a:off x="1307689" y="1143145"/>
            <a:ext cx="9842091" cy="1461939"/>
          </a:xfrm>
          <a:prstGeom prst="rect">
            <a:avLst/>
          </a:prstGeom>
          <a:noFill/>
        </p:spPr>
        <p:txBody>
          <a:bodyPr wrap="square">
            <a:spAutoFit/>
          </a:bodyPr>
          <a:lstStyle/>
          <a:p>
            <a:pPr algn="ctr" fontAlgn="base">
              <a:lnSpc>
                <a:spcPts val="2100"/>
              </a:lnSpc>
              <a:buNone/>
            </a:pPr>
            <a:r>
              <a:rPr lang="en-US" sz="2400" b="1" i="0" u="sng" dirty="0">
                <a:solidFill>
                  <a:srgbClr val="273239"/>
                </a:solidFill>
                <a:effectLst/>
                <a:latin typeface="Nunito" pitchFamily="2" charset="0"/>
              </a:rPr>
              <a:t>Working of KNN algorithm</a:t>
            </a:r>
          </a:p>
          <a:p>
            <a:pPr algn="ctr" fontAlgn="base">
              <a:lnSpc>
                <a:spcPts val="2100"/>
              </a:lnSpc>
              <a:buNone/>
            </a:pPr>
            <a:endParaRPr lang="en-US" sz="2400" b="1" i="0" u="sng" dirty="0">
              <a:solidFill>
                <a:srgbClr val="273239"/>
              </a:solidFill>
              <a:effectLst/>
              <a:latin typeface="Nunito" pitchFamily="2" charset="0"/>
            </a:endParaRPr>
          </a:p>
          <a:p>
            <a:pPr algn="l" rtl="0" fontAlgn="base">
              <a:spcAft>
                <a:spcPts val="750"/>
              </a:spcAft>
              <a:buNone/>
            </a:pPr>
            <a:r>
              <a:rPr lang="en-US" b="0" i="0" dirty="0">
                <a:solidFill>
                  <a:srgbClr val="273239"/>
                </a:solidFill>
                <a:effectLst/>
                <a:latin typeface="Nunito" pitchFamily="2" charset="0"/>
              </a:rPr>
              <a:t>The K-Nearest Neighbors (KNN) algorithm operates on the principle of similarity where it predicts the label or value of a new data point by considering the labels or values of its K nearest neighbors in the training dataset.</a:t>
            </a:r>
          </a:p>
        </p:txBody>
      </p:sp>
      <p:pic>
        <p:nvPicPr>
          <p:cNvPr id="5" name="Picture 4">
            <a:extLst>
              <a:ext uri="{FF2B5EF4-FFF2-40B4-BE49-F238E27FC236}">
                <a16:creationId xmlns:a16="http://schemas.microsoft.com/office/drawing/2014/main" id="{BFFAC255-FC7F-2F42-6398-044ADA601D8C}"/>
              </a:ext>
            </a:extLst>
          </p:cNvPr>
          <p:cNvPicPr>
            <a:picLocks noChangeAspect="1"/>
          </p:cNvPicPr>
          <p:nvPr/>
        </p:nvPicPr>
        <p:blipFill>
          <a:blip r:embed="rId2"/>
          <a:stretch>
            <a:fillRect/>
          </a:stretch>
        </p:blipFill>
        <p:spPr>
          <a:xfrm>
            <a:off x="2286000" y="2964884"/>
            <a:ext cx="7620000" cy="3114675"/>
          </a:xfrm>
          <a:prstGeom prst="rect">
            <a:avLst/>
          </a:prstGeom>
        </p:spPr>
      </p:pic>
    </p:spTree>
    <p:extLst>
      <p:ext uri="{BB962C8B-B14F-4D97-AF65-F5344CB8AC3E}">
        <p14:creationId xmlns:p14="http://schemas.microsoft.com/office/powerpoint/2010/main" val="1400680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830028-5FE0-B1BD-1355-9B7A5BE3491B}"/>
              </a:ext>
            </a:extLst>
          </p:cNvPr>
          <p:cNvSpPr txBox="1"/>
          <p:nvPr/>
        </p:nvSpPr>
        <p:spPr>
          <a:xfrm>
            <a:off x="1091380" y="1112981"/>
            <a:ext cx="10009239" cy="4632037"/>
          </a:xfrm>
          <a:prstGeom prst="rect">
            <a:avLst/>
          </a:prstGeom>
          <a:noFill/>
        </p:spPr>
        <p:txBody>
          <a:bodyPr wrap="square">
            <a:spAutoFit/>
          </a:bodyPr>
          <a:lstStyle/>
          <a:p>
            <a:pPr algn="ctr" fontAlgn="base">
              <a:lnSpc>
                <a:spcPts val="2100"/>
              </a:lnSpc>
              <a:spcBef>
                <a:spcPts val="1800"/>
              </a:spcBef>
              <a:spcAft>
                <a:spcPts val="1800"/>
              </a:spcAft>
            </a:pPr>
            <a:r>
              <a:rPr lang="en-IN" sz="2800" b="1" u="sng" dirty="0"/>
              <a:t>Working of KNN algorithm</a:t>
            </a:r>
          </a:p>
          <a:p>
            <a:pPr algn="just" fontAlgn="base">
              <a:lnSpc>
                <a:spcPts val="2100"/>
              </a:lnSpc>
              <a:spcBef>
                <a:spcPts val="1800"/>
              </a:spcBef>
              <a:spcAft>
                <a:spcPts val="1800"/>
              </a:spcAft>
              <a:buNone/>
            </a:pPr>
            <a:r>
              <a:rPr lang="en-US" b="1" i="0" dirty="0">
                <a:solidFill>
                  <a:srgbClr val="273239"/>
                </a:solidFill>
                <a:effectLst/>
                <a:latin typeface="Nunito" pitchFamily="2" charset="0"/>
              </a:rPr>
              <a:t>Step 1: Selecting the optimal value of K</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K represents the number of nearest neighbors that needs to be considered while making prediction.</a:t>
            </a:r>
          </a:p>
          <a:p>
            <a:pPr algn="just" fontAlgn="base">
              <a:lnSpc>
                <a:spcPts val="2100"/>
              </a:lnSpc>
              <a:spcBef>
                <a:spcPts val="1800"/>
              </a:spcBef>
              <a:spcAft>
                <a:spcPts val="1800"/>
              </a:spcAft>
              <a:buNone/>
            </a:pPr>
            <a:r>
              <a:rPr lang="en-US" b="1" i="0" dirty="0">
                <a:solidFill>
                  <a:srgbClr val="273239"/>
                </a:solidFill>
                <a:effectLst/>
                <a:latin typeface="Nunito" pitchFamily="2" charset="0"/>
              </a:rPr>
              <a:t>Step 2: Calculating distance</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To measure the similarity between target and training data points Euclidean distance is widely used. Distance is calculated between data points in the dataset and target point.</a:t>
            </a:r>
          </a:p>
          <a:p>
            <a:pPr algn="just" fontAlgn="base">
              <a:lnSpc>
                <a:spcPts val="2100"/>
              </a:lnSpc>
              <a:spcBef>
                <a:spcPts val="1800"/>
              </a:spcBef>
              <a:spcAft>
                <a:spcPts val="1800"/>
              </a:spcAft>
              <a:buNone/>
            </a:pPr>
            <a:r>
              <a:rPr lang="en-US" b="1" i="0" dirty="0">
                <a:solidFill>
                  <a:srgbClr val="273239"/>
                </a:solidFill>
                <a:effectLst/>
                <a:latin typeface="Nunito" pitchFamily="2" charset="0"/>
              </a:rPr>
              <a:t>Step 3: Finding Nearest Neighbors</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The k data points with the smallest distances to the target point are nearest neighbors.</a:t>
            </a:r>
          </a:p>
        </p:txBody>
      </p:sp>
    </p:spTree>
    <p:extLst>
      <p:ext uri="{BB962C8B-B14F-4D97-AF65-F5344CB8AC3E}">
        <p14:creationId xmlns:p14="http://schemas.microsoft.com/office/powerpoint/2010/main" val="1293819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5442C9-4F07-885A-AB33-89AAC0EC9BDF}"/>
              </a:ext>
            </a:extLst>
          </p:cNvPr>
          <p:cNvSpPr txBox="1"/>
          <p:nvPr/>
        </p:nvSpPr>
        <p:spPr>
          <a:xfrm>
            <a:off x="1233948" y="1212509"/>
            <a:ext cx="9724103" cy="3824124"/>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273239"/>
                </a:solidFill>
                <a:effectLst/>
                <a:latin typeface="Nunito" pitchFamily="2" charset="0"/>
              </a:rPr>
              <a:t>Step 4: Voting for Classification or Taking Average for Regression</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When you want to classify a data point into a category like spam or not spam, the KNN algorithm looks at the K closest points in the dataset. These closest points are called neighbors. The algorithm then looks at which category the neighbors belong to and picks the one that appears the most. This is called majority voting.</a:t>
            </a:r>
          </a:p>
          <a:p>
            <a:pPr algn="just" fontAlgn="base">
              <a:spcAft>
                <a:spcPts val="1800"/>
              </a:spcAft>
              <a:buFont typeface="Arial" panose="020B0604020202020204" pitchFamily="34" charset="0"/>
              <a:buChar char="•"/>
            </a:pPr>
            <a:r>
              <a:rPr lang="en-US" b="0" i="0" dirty="0">
                <a:solidFill>
                  <a:srgbClr val="273239"/>
                </a:solidFill>
                <a:effectLst/>
                <a:latin typeface="Nunito" pitchFamily="2" charset="0"/>
              </a:rPr>
              <a:t>In regression, the algorithm still looks for the K closest points. But instead of voting for a class in classification, it takes the average of the values of those K neighbors. This average is the predicted value for the new point for the algorithm.</a:t>
            </a:r>
          </a:p>
          <a:p>
            <a:pPr algn="just" rtl="0" fontAlgn="base">
              <a:spcAft>
                <a:spcPts val="750"/>
              </a:spcAft>
              <a:buNone/>
            </a:pPr>
            <a:r>
              <a:rPr lang="en-US" b="0" i="0" dirty="0">
                <a:solidFill>
                  <a:srgbClr val="273239"/>
                </a:solidFill>
                <a:effectLst/>
                <a:latin typeface="Nunito" pitchFamily="2" charset="0"/>
              </a:rPr>
              <a:t>It shows how a test point is classified based on its nearest neighbors. As the test point moves the algorithm identifies the closest 'k' data points i.e. 5 in this case and assigns test point the majority class label that is grey label class here.</a:t>
            </a:r>
          </a:p>
        </p:txBody>
      </p:sp>
    </p:spTree>
    <p:extLst>
      <p:ext uri="{BB962C8B-B14F-4D97-AF65-F5344CB8AC3E}">
        <p14:creationId xmlns:p14="http://schemas.microsoft.com/office/powerpoint/2010/main" val="2732013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B6B835-B35A-E045-D90D-429B8ADF2F5F}"/>
              </a:ext>
            </a:extLst>
          </p:cNvPr>
          <p:cNvSpPr txBox="1"/>
          <p:nvPr/>
        </p:nvSpPr>
        <p:spPr>
          <a:xfrm>
            <a:off x="1233948" y="1465239"/>
            <a:ext cx="9724103" cy="3262432"/>
          </a:xfrm>
          <a:prstGeom prst="rect">
            <a:avLst/>
          </a:prstGeom>
          <a:noFill/>
        </p:spPr>
        <p:txBody>
          <a:bodyPr wrap="square">
            <a:spAutoFit/>
          </a:bodyPr>
          <a:lstStyle/>
          <a:p>
            <a:pPr algn="ctr" fontAlgn="base">
              <a:lnSpc>
                <a:spcPts val="2100"/>
              </a:lnSpc>
              <a:buNone/>
            </a:pPr>
            <a:r>
              <a:rPr lang="en-US" sz="2400" b="1" i="0" u="sng" dirty="0">
                <a:solidFill>
                  <a:srgbClr val="273239"/>
                </a:solidFill>
                <a:effectLst/>
                <a:latin typeface="Nunito" pitchFamily="2" charset="0"/>
              </a:rPr>
              <a:t>Applications of KNN</a:t>
            </a:r>
          </a:p>
          <a:p>
            <a:pPr algn="ctr" fontAlgn="base">
              <a:lnSpc>
                <a:spcPts val="2100"/>
              </a:lnSpc>
              <a:buNone/>
            </a:pPr>
            <a:endParaRPr lang="en-US" sz="2400" b="1" i="0" u="sng" dirty="0">
              <a:solidFill>
                <a:srgbClr val="273239"/>
              </a:solidFill>
              <a:effectLst/>
              <a:latin typeface="Nunito" pitchFamily="2" charset="0"/>
            </a:endParaRP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Recommendation Systems</a:t>
            </a:r>
            <a:r>
              <a:rPr lang="en-US" b="0" i="0" dirty="0">
                <a:solidFill>
                  <a:srgbClr val="273239"/>
                </a:solidFill>
                <a:effectLst/>
                <a:latin typeface="Nunito" pitchFamily="2" charset="0"/>
              </a:rPr>
              <a:t>: Suggests items like movies or products by finding users with similar preferences.</a:t>
            </a: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Spam Detection</a:t>
            </a:r>
            <a:r>
              <a:rPr lang="en-US" b="0" i="0" dirty="0">
                <a:solidFill>
                  <a:srgbClr val="273239"/>
                </a:solidFill>
                <a:effectLst/>
                <a:latin typeface="Nunito" pitchFamily="2" charset="0"/>
              </a:rPr>
              <a:t>: Identifies spam emails by comparing new emails to known spam and non-spam examples.</a:t>
            </a: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Customer Segmentation</a:t>
            </a:r>
            <a:r>
              <a:rPr lang="en-US" b="0" i="0" dirty="0">
                <a:solidFill>
                  <a:srgbClr val="273239"/>
                </a:solidFill>
                <a:effectLst/>
                <a:latin typeface="Nunito" pitchFamily="2" charset="0"/>
              </a:rPr>
              <a:t>: Groups customers by comparing their shopping behavior to others.</a:t>
            </a: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Speech Recognition</a:t>
            </a:r>
            <a:r>
              <a:rPr lang="en-US" b="0" i="0" dirty="0">
                <a:solidFill>
                  <a:srgbClr val="273239"/>
                </a:solidFill>
                <a:effectLst/>
                <a:latin typeface="Nunito" pitchFamily="2" charset="0"/>
              </a:rPr>
              <a:t>: Matches spoken words to known patterns to convert them into text.</a:t>
            </a:r>
          </a:p>
        </p:txBody>
      </p:sp>
    </p:spTree>
    <p:extLst>
      <p:ext uri="{BB962C8B-B14F-4D97-AF65-F5344CB8AC3E}">
        <p14:creationId xmlns:p14="http://schemas.microsoft.com/office/powerpoint/2010/main" val="369396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94DD00-A159-EA3F-C0DD-B6C8F6A74DB7}"/>
              </a:ext>
            </a:extLst>
          </p:cNvPr>
          <p:cNvSpPr txBox="1"/>
          <p:nvPr/>
        </p:nvSpPr>
        <p:spPr>
          <a:xfrm>
            <a:off x="1553497" y="949946"/>
            <a:ext cx="9261987" cy="4762842"/>
          </a:xfrm>
          <a:prstGeom prst="rect">
            <a:avLst/>
          </a:prstGeom>
          <a:noFill/>
        </p:spPr>
        <p:txBody>
          <a:bodyPr wrap="square">
            <a:spAutoFit/>
          </a:bodyPr>
          <a:lstStyle/>
          <a:p>
            <a:pPr marL="0" marR="0" lvl="0" indent="0" algn="ctr" defTabSz="457200" rtl="0" eaLnBrk="1" fontAlgn="base" latinLnBrk="0" hangingPunct="1">
              <a:lnSpc>
                <a:spcPts val="2100"/>
              </a:lnSpc>
              <a:spcBef>
                <a:spcPts val="0"/>
              </a:spcBef>
              <a:spcAft>
                <a:spcPts val="0"/>
              </a:spcAft>
              <a:buClrTx/>
              <a:buSzTx/>
              <a:buFontTx/>
              <a:buNone/>
              <a:tabLst/>
              <a:defRPr/>
            </a:pPr>
            <a:r>
              <a:rPr kumimoji="0" lang="en-US" sz="2400" b="1" i="0" u="sng" strike="noStrike" kern="1200" cap="none" spc="0" normalizeH="0" baseline="0" noProof="0" dirty="0">
                <a:ln>
                  <a:noFill/>
                </a:ln>
                <a:solidFill>
                  <a:srgbClr val="273239"/>
                </a:solidFill>
                <a:effectLst/>
                <a:uLnTx/>
                <a:uFillTx/>
                <a:latin typeface="Nunito" pitchFamily="2" charset="0"/>
                <a:ea typeface="+mn-ea"/>
                <a:cs typeface="+mn-cs"/>
              </a:rPr>
              <a:t>Advantages of KNN</a:t>
            </a:r>
          </a:p>
          <a:p>
            <a:pPr marL="0" marR="0" lvl="0" indent="0" algn="just" defTabSz="457200" rtl="0" eaLnBrk="1" fontAlgn="base" latinLnBrk="0" hangingPunct="1">
              <a:lnSpc>
                <a:spcPts val="2100"/>
              </a:lnSpc>
              <a:spcBef>
                <a:spcPts val="0"/>
              </a:spcBef>
              <a:spcAft>
                <a:spcPts val="0"/>
              </a:spcAft>
              <a:buClrTx/>
              <a:buSzTx/>
              <a:buFontTx/>
              <a:buNone/>
              <a:tabLst/>
              <a:defRPr/>
            </a:pPr>
            <a:endParaRPr kumimoji="0" lang="en-US" sz="2400" b="1" i="0" u="sng" strike="noStrike" kern="1200" cap="none" spc="0" normalizeH="0" baseline="0" noProof="0" dirty="0">
              <a:ln>
                <a:noFill/>
              </a:ln>
              <a:solidFill>
                <a:srgbClr val="273239"/>
              </a:solidFill>
              <a:effectLst/>
              <a:uLnTx/>
              <a:uFillTx/>
              <a:latin typeface="Nunito" pitchFamily="2" charset="0"/>
              <a:ea typeface="+mn-ea"/>
              <a:cs typeface="+mn-cs"/>
            </a:endParaRPr>
          </a:p>
          <a:p>
            <a:pPr marL="0" marR="0" lvl="0" indent="0" algn="just" defTabSz="457200" rtl="0" eaLnBrk="1" fontAlgn="base" latinLnBrk="0" hangingPunct="1">
              <a:lnSpc>
                <a:spcPct val="100000"/>
              </a:lnSpc>
              <a:spcBef>
                <a:spcPts val="0"/>
              </a:spcBef>
              <a:spcAft>
                <a:spcPts val="18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73239"/>
                </a:solidFill>
                <a:effectLst/>
                <a:uLnTx/>
                <a:uFillTx/>
                <a:latin typeface="Nunito" pitchFamily="2" charset="0"/>
                <a:ea typeface="+mn-ea"/>
                <a:cs typeface="+mn-cs"/>
              </a:rPr>
              <a:t>Simple to use</a:t>
            </a:r>
            <a:r>
              <a:rPr kumimoji="0" lang="en-US" sz="1800" b="0" i="0" u="none" strike="noStrike" kern="1200" cap="none" spc="0" normalizeH="0" baseline="0" noProof="0" dirty="0">
                <a:ln>
                  <a:noFill/>
                </a:ln>
                <a:solidFill>
                  <a:srgbClr val="273239"/>
                </a:solidFill>
                <a:effectLst/>
                <a:uLnTx/>
                <a:uFillTx/>
                <a:latin typeface="Nunito" pitchFamily="2" charset="0"/>
                <a:ea typeface="+mn-ea"/>
                <a:cs typeface="+mn-cs"/>
              </a:rPr>
              <a:t>: Easy to understand and implement.</a:t>
            </a:r>
          </a:p>
          <a:p>
            <a:pPr marL="0" marR="0" lvl="0" indent="0" algn="just" defTabSz="457200" rtl="0" eaLnBrk="1" fontAlgn="base" latinLnBrk="0" hangingPunct="1">
              <a:lnSpc>
                <a:spcPct val="100000"/>
              </a:lnSpc>
              <a:spcBef>
                <a:spcPts val="0"/>
              </a:spcBef>
              <a:spcAft>
                <a:spcPts val="18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73239"/>
                </a:solidFill>
                <a:effectLst/>
                <a:uLnTx/>
                <a:uFillTx/>
                <a:latin typeface="Nunito" pitchFamily="2" charset="0"/>
                <a:ea typeface="+mn-ea"/>
                <a:cs typeface="+mn-cs"/>
              </a:rPr>
              <a:t>No training step</a:t>
            </a:r>
            <a:r>
              <a:rPr kumimoji="0" lang="en-US" sz="1800" b="0" i="0" u="none" strike="noStrike" kern="1200" cap="none" spc="0" normalizeH="0" baseline="0" noProof="0" dirty="0">
                <a:ln>
                  <a:noFill/>
                </a:ln>
                <a:solidFill>
                  <a:srgbClr val="273239"/>
                </a:solidFill>
                <a:effectLst/>
                <a:uLnTx/>
                <a:uFillTx/>
                <a:latin typeface="Nunito" pitchFamily="2" charset="0"/>
                <a:ea typeface="+mn-ea"/>
                <a:cs typeface="+mn-cs"/>
              </a:rPr>
              <a:t>: No need to train as it just stores the data and uses it during prediction.</a:t>
            </a:r>
          </a:p>
          <a:p>
            <a:pPr marL="0" marR="0" lvl="0" indent="0" algn="just" defTabSz="457200" rtl="0" eaLnBrk="1" fontAlgn="base" latinLnBrk="0" hangingPunct="1">
              <a:lnSpc>
                <a:spcPct val="100000"/>
              </a:lnSpc>
              <a:spcBef>
                <a:spcPts val="0"/>
              </a:spcBef>
              <a:spcAft>
                <a:spcPts val="18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73239"/>
                </a:solidFill>
                <a:effectLst/>
                <a:uLnTx/>
                <a:uFillTx/>
                <a:latin typeface="Nunito" pitchFamily="2" charset="0"/>
                <a:ea typeface="+mn-ea"/>
                <a:cs typeface="+mn-cs"/>
              </a:rPr>
              <a:t>Few parameters</a:t>
            </a:r>
            <a:r>
              <a:rPr kumimoji="0" lang="en-US" sz="1800" b="0" i="0" u="none" strike="noStrike" kern="1200" cap="none" spc="0" normalizeH="0" baseline="0" noProof="0" dirty="0">
                <a:ln>
                  <a:noFill/>
                </a:ln>
                <a:solidFill>
                  <a:srgbClr val="273239"/>
                </a:solidFill>
                <a:effectLst/>
                <a:uLnTx/>
                <a:uFillTx/>
                <a:latin typeface="Nunito" pitchFamily="2" charset="0"/>
                <a:ea typeface="+mn-ea"/>
                <a:cs typeface="+mn-cs"/>
              </a:rPr>
              <a:t>: Only needs to set the number of neighbors (k) and a distance method.</a:t>
            </a:r>
          </a:p>
          <a:p>
            <a:pPr marL="0" marR="0" lvl="0" indent="0" algn="just" defTabSz="457200" rtl="0" eaLnBrk="1" fontAlgn="base" latinLnBrk="0" hangingPunct="1">
              <a:lnSpc>
                <a:spcPct val="100000"/>
              </a:lnSpc>
              <a:spcBef>
                <a:spcPts val="0"/>
              </a:spcBef>
              <a:spcAft>
                <a:spcPts val="180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srgbClr val="273239"/>
                </a:solidFill>
                <a:effectLst/>
                <a:uLnTx/>
                <a:uFillTx/>
                <a:latin typeface="Nunito" pitchFamily="2" charset="0"/>
                <a:ea typeface="+mn-ea"/>
                <a:cs typeface="+mn-cs"/>
              </a:rPr>
              <a:t>Versatile</a:t>
            </a:r>
            <a:r>
              <a:rPr kumimoji="0" lang="en-US" sz="1800" b="0" i="0" u="none" strike="noStrike" kern="1200" cap="none" spc="0" normalizeH="0" baseline="0" noProof="0" dirty="0">
                <a:ln>
                  <a:noFill/>
                </a:ln>
                <a:solidFill>
                  <a:srgbClr val="273239"/>
                </a:solidFill>
                <a:effectLst/>
                <a:uLnTx/>
                <a:uFillTx/>
                <a:latin typeface="Nunito" pitchFamily="2" charset="0"/>
                <a:ea typeface="+mn-ea"/>
                <a:cs typeface="+mn-cs"/>
              </a:rPr>
              <a:t>: Works for both classification and regression problems.</a:t>
            </a:r>
          </a:p>
          <a:p>
            <a:pPr algn="ctr" fontAlgn="base">
              <a:lnSpc>
                <a:spcPts val="2100"/>
              </a:lnSpc>
              <a:buNone/>
            </a:pPr>
            <a:endParaRPr lang="en-US" sz="2400" b="1" i="0" dirty="0">
              <a:solidFill>
                <a:srgbClr val="273239"/>
              </a:solidFill>
              <a:effectLst/>
              <a:latin typeface="Nunito" pitchFamily="2" charset="0"/>
            </a:endParaRPr>
          </a:p>
          <a:p>
            <a:pPr algn="ctr" fontAlgn="base">
              <a:lnSpc>
                <a:spcPts val="2100"/>
              </a:lnSpc>
              <a:buNone/>
            </a:pPr>
            <a:r>
              <a:rPr lang="en-US" sz="2400" b="1" i="0" u="sng" dirty="0">
                <a:solidFill>
                  <a:srgbClr val="273239"/>
                </a:solidFill>
                <a:effectLst/>
                <a:latin typeface="Nunito" pitchFamily="2" charset="0"/>
              </a:rPr>
              <a:t>Disadvantages of KNN</a:t>
            </a:r>
          </a:p>
          <a:p>
            <a:pPr algn="just" fontAlgn="base">
              <a:lnSpc>
                <a:spcPts val="2100"/>
              </a:lnSpc>
              <a:buNone/>
            </a:pPr>
            <a:endParaRPr lang="en-US" sz="2400" b="1" i="0" dirty="0">
              <a:solidFill>
                <a:srgbClr val="273239"/>
              </a:solidFill>
              <a:effectLst/>
              <a:latin typeface="Nunito" pitchFamily="2" charset="0"/>
            </a:endParaRP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Slow with large data</a:t>
            </a:r>
            <a:r>
              <a:rPr lang="en-US" b="0" i="0" dirty="0">
                <a:solidFill>
                  <a:srgbClr val="273239"/>
                </a:solidFill>
                <a:effectLst/>
                <a:latin typeface="Nunito" pitchFamily="2" charset="0"/>
              </a:rPr>
              <a:t>: Needs to compare every point during prediction.</a:t>
            </a: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Struggles with many features</a:t>
            </a:r>
            <a:r>
              <a:rPr lang="en-US" b="0" i="0" dirty="0">
                <a:solidFill>
                  <a:srgbClr val="273239"/>
                </a:solidFill>
                <a:effectLst/>
                <a:latin typeface="Nunito" pitchFamily="2" charset="0"/>
              </a:rPr>
              <a:t>: Accuracy drops when data has too many features.</a:t>
            </a:r>
          </a:p>
          <a:p>
            <a:pPr algn="just" fontAlgn="base">
              <a:spcAft>
                <a:spcPts val="1800"/>
              </a:spcAft>
              <a:buFont typeface="Arial" panose="020B0604020202020204" pitchFamily="34" charset="0"/>
              <a:buChar char="•"/>
            </a:pPr>
            <a:r>
              <a:rPr lang="en-US" b="1" i="0" dirty="0">
                <a:solidFill>
                  <a:srgbClr val="273239"/>
                </a:solidFill>
                <a:effectLst/>
                <a:latin typeface="Nunito" pitchFamily="2" charset="0"/>
              </a:rPr>
              <a:t>Can Overfit</a:t>
            </a:r>
            <a:r>
              <a:rPr lang="en-US" b="0" i="0" dirty="0">
                <a:solidFill>
                  <a:srgbClr val="273239"/>
                </a:solidFill>
                <a:effectLst/>
                <a:latin typeface="Nunito" pitchFamily="2" charset="0"/>
              </a:rPr>
              <a:t>: It can overfit especially when the data is high-dimensional or not clean.</a:t>
            </a:r>
          </a:p>
        </p:txBody>
      </p:sp>
    </p:spTree>
    <p:extLst>
      <p:ext uri="{BB962C8B-B14F-4D97-AF65-F5344CB8AC3E}">
        <p14:creationId xmlns:p14="http://schemas.microsoft.com/office/powerpoint/2010/main" val="331020866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docProps/app.xml><?xml version="1.0" encoding="utf-8"?>
<Properties xmlns="http://schemas.openxmlformats.org/officeDocument/2006/extended-properties" xmlns:vt="http://schemas.openxmlformats.org/officeDocument/2006/docPropsVTypes">
  <Template>Organic</Template>
  <TotalTime>29</TotalTime>
  <Words>1309</Words>
  <Application>Microsoft Office PowerPoint</Application>
  <PresentationFormat>Widescreen</PresentationFormat>
  <Paragraphs>80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Organic</vt:lpstr>
      <vt:lpstr>K-Nearest Neighbors (KNN)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K-Nearest Neighbors (KNN)</dc:title>
  <dc:creator>muskan muskan</dc:creator>
  <cp:lastModifiedBy>Muskan Muskan</cp:lastModifiedBy>
  <cp:revision>2</cp:revision>
  <dcterms:created xsi:type="dcterms:W3CDTF">2026-03-12T12:56:34Z</dcterms:created>
  <dcterms:modified xsi:type="dcterms:W3CDTF">2026-03-25T05:15:10Z</dcterms:modified>
</cp:coreProperties>
</file>